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for the Learning Home LMS: three roles, login and register, and role-based homepages.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groups of screens: the detailed set, the two new role pages, and a barebones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Detailed screens. Flow, authentication and role-based homepages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1a — Role &amp; permissions flow — how the 3 roles differ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1b — Login — centered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1c — Login — split brand panel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— Register — with role selection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1e — Student homepage — course card grid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1f — Student homepage — sidebar + 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1g — Teacher homepage + course proposal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1h — Admin homepage — approvals + edit / delete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1i — Mobile — login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1j — Mobile — student homepage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Role pages. Teacher roster and admin teacher 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 — Teacher — enrolled students &amp; progress (filterable)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 — Admin — teacher 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Barebones set. Essentials only — labels and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3a — Login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3b —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3c — Student homepage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— Teacher homepage + proposal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3e — Admin homepage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115717"/>
            <a:ext cx="994470" cy="937171"/>
          </a:xfrm>
          <a:prstGeom prst="roundRect">
            <a:avLst>
              <a:gd name="adj" fmla="val 16262"/>
            </a:avLst>
          </a:prstGeom>
          <a:solidFill>
            <a:srgbClr val="BCD6F2"/>
          </a:solidFill>
          <a:ln w="38100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4000" y="3172867"/>
            <a:ext cx="71291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800" b="1" spc="-750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99420" y="3241328"/>
            <a:ext cx="374095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333500" y="4319588"/>
            <a:ext cx="13735050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10"/>
              </a:lnSpc>
              <a:buNone/>
            </a:pPr>
            <a:r>
              <a:rPr lang="en-US" sz="78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management system wireframes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333500" y="6666309"/>
            <a:ext cx="171831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teachers and admins · logins and permissions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128963"/>
            <a:ext cx="171831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Contents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33500" y="4557713"/>
            <a:ext cx="5003750" cy="2600325"/>
          </a:xfrm>
          <a:prstGeom prst="roundRect">
            <a:avLst>
              <a:gd name="adj" fmla="val 7326"/>
            </a:avLst>
          </a:prstGeom>
          <a:ln w="38100">
            <a:solidFill>
              <a:srgbClr val="2B2B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95813"/>
            <a:ext cx="4927550" cy="923925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5481638"/>
            <a:ext cx="4927550" cy="38100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4786313"/>
            <a:ext cx="458007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 Detailed screens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19250" y="5748338"/>
            <a:ext cx="4347389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authentication and role-based homepages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19250" y="6662738"/>
            <a:ext cx="48754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screens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642050" y="4557713"/>
            <a:ext cx="5003750" cy="2600325"/>
          </a:xfrm>
          <a:prstGeom prst="roundRect">
            <a:avLst>
              <a:gd name="adj" fmla="val 7326"/>
            </a:avLst>
          </a:prstGeom>
          <a:ln w="381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80150" y="4595813"/>
            <a:ext cx="4927550" cy="923925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11" name="Shape 9"/>
          <p:cNvSpPr/>
          <p:nvPr/>
        </p:nvSpPr>
        <p:spPr>
          <a:xfrm>
            <a:off x="6680150" y="5481638"/>
            <a:ext cx="4927550" cy="38100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27800" y="4786313"/>
            <a:ext cx="458007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 Role pages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27800" y="5748338"/>
            <a:ext cx="4043409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roster and admin teacher statistics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927800" y="6662738"/>
            <a:ext cx="48754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screens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950601" y="4557713"/>
            <a:ext cx="5003750" cy="2600325"/>
          </a:xfrm>
          <a:prstGeom prst="roundRect">
            <a:avLst>
              <a:gd name="adj" fmla="val 7326"/>
            </a:avLst>
          </a:prstGeom>
          <a:ln w="38100">
            <a:solidFill>
              <a:srgbClr val="2B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88701" y="4595813"/>
            <a:ext cx="4927550" cy="923925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88701" y="5481638"/>
            <a:ext cx="4927550" cy="38100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8" name="Text 16"/>
          <p:cNvSpPr/>
          <p:nvPr/>
        </p:nvSpPr>
        <p:spPr>
          <a:xfrm>
            <a:off x="12236351" y="4786313"/>
            <a:ext cx="458007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3. Barebones set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236351" y="5748338"/>
            <a:ext cx="433129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 only — labels and actions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36351" y="6262688"/>
            <a:ext cx="48754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screens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991868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333500" y="4601468"/>
            <a:ext cx="171831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224"/>
              </a:lnSpc>
              <a:buNone/>
            </a:pPr>
            <a:r>
              <a:rPr lang="en-US" sz="72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Detailed screens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5790158"/>
            <a:ext cx="171831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4A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authentication and role-based homepages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1100203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Role &amp; permissions flow — how the 3 roles differ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3524" y="2511495"/>
            <a:ext cx="16760954" cy="6140311"/>
          </a:xfrm>
          <a:prstGeom prst="roundRect">
            <a:avLst>
              <a:gd name="adj" fmla="val 4199"/>
            </a:avLst>
          </a:prstGeom>
          <a:solidFill>
            <a:srgbClr val="F7F8FC"/>
          </a:solidFill>
          <a:ln w="42977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61820" y="3113170"/>
            <a:ext cx="3787666" cy="1009955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42977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40411" dir="2700000">
              <a:srgbClr val="2B2B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1588" y="3349542"/>
            <a:ext cx="3041760" cy="575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7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🔑 Login / Register</a:t>
            </a:r>
            <a:endParaRPr lang="en-US" sz="2707" dirty="0"/>
          </a:p>
        </p:txBody>
      </p:sp>
      <p:sp>
        <p:nvSpPr>
          <p:cNvPr id="8" name="Text 6"/>
          <p:cNvSpPr/>
          <p:nvPr/>
        </p:nvSpPr>
        <p:spPr>
          <a:xfrm>
            <a:off x="8964370" y="3328054"/>
            <a:ext cx="447210" cy="61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84" b="1" dirty="0">
                <a:solidFill>
                  <a:srgbClr val="8A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84" dirty="0"/>
          </a:p>
        </p:txBody>
      </p:sp>
      <p:sp>
        <p:nvSpPr>
          <p:cNvPr id="9" name="Text 7"/>
          <p:cNvSpPr/>
          <p:nvPr/>
        </p:nvSpPr>
        <p:spPr>
          <a:xfrm>
            <a:off x="9550265" y="3392519"/>
            <a:ext cx="3888847" cy="48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7A7A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account role decides destination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08176" y="4595869"/>
            <a:ext cx="4927895" cy="3454260"/>
          </a:xfrm>
          <a:prstGeom prst="roundRect">
            <a:avLst>
              <a:gd name="adj" fmla="val 6221"/>
            </a:avLst>
          </a:prstGeom>
          <a:solidFill>
            <a:srgbClr val="FFFFFF"/>
          </a:solidFill>
          <a:ln w="42977">
            <a:solidFill>
              <a:srgbClr val="2B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51153" y="4638847"/>
            <a:ext cx="4841941" cy="838047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1451153" y="5433917"/>
            <a:ext cx="4841941" cy="42977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3" name="Text 11"/>
          <p:cNvSpPr/>
          <p:nvPr/>
        </p:nvSpPr>
        <p:spPr>
          <a:xfrm>
            <a:off x="1709013" y="4810754"/>
            <a:ext cx="4471478" cy="48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👤 Student</a:t>
            </a:r>
            <a:endParaRPr lang="en-US" sz="2538" dirty="0"/>
          </a:p>
        </p:txBody>
      </p:sp>
      <p:sp>
        <p:nvSpPr>
          <p:cNvPr id="14" name="Text 12"/>
          <p:cNvSpPr/>
          <p:nvPr/>
        </p:nvSpPr>
        <p:spPr>
          <a:xfrm>
            <a:off x="1849762" y="5734755"/>
            <a:ext cx="4260676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enrol in courses</a:t>
            </a:r>
            <a:endParaRPr lang="en-US" sz="2284" dirty="0"/>
          </a:p>
        </p:txBody>
      </p:sp>
      <p:sp>
        <p:nvSpPr>
          <p:cNvPr id="15" name="Text 13"/>
          <p:cNvSpPr/>
          <p:nvPr/>
        </p:nvSpPr>
        <p:spPr>
          <a:xfrm>
            <a:off x="1849762" y="6227645"/>
            <a:ext cx="4260676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own progress &amp; grades</a:t>
            </a:r>
            <a:endParaRPr lang="en-US" sz="2284" dirty="0"/>
          </a:p>
        </p:txBody>
      </p:sp>
      <p:sp>
        <p:nvSpPr>
          <p:cNvPr id="16" name="Text 14"/>
          <p:cNvSpPr/>
          <p:nvPr/>
        </p:nvSpPr>
        <p:spPr>
          <a:xfrm>
            <a:off x="1849762" y="6720535"/>
            <a:ext cx="4260676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A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cannot create/edit courses</a:t>
            </a:r>
            <a:endParaRPr lang="en-US" sz="2284" dirty="0"/>
          </a:p>
        </p:txBody>
      </p:sp>
      <p:sp>
        <p:nvSpPr>
          <p:cNvPr id="17" name="Shape 15"/>
          <p:cNvSpPr/>
          <p:nvPr/>
        </p:nvSpPr>
        <p:spPr>
          <a:xfrm>
            <a:off x="6679885" y="4595869"/>
            <a:ext cx="4927895" cy="3454260"/>
          </a:xfrm>
          <a:prstGeom prst="roundRect">
            <a:avLst>
              <a:gd name="adj" fmla="val 6221"/>
            </a:avLst>
          </a:prstGeom>
          <a:solidFill>
            <a:srgbClr val="FFFFFF"/>
          </a:solidFill>
          <a:ln w="42977">
            <a:solidFill>
              <a:srgbClr val="2B2B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2862" y="4638847"/>
            <a:ext cx="4841942" cy="838047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2862" y="5433917"/>
            <a:ext cx="4841942" cy="42977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20" name="Text 18"/>
          <p:cNvSpPr/>
          <p:nvPr/>
        </p:nvSpPr>
        <p:spPr>
          <a:xfrm>
            <a:off x="6980723" y="4810754"/>
            <a:ext cx="4471478" cy="48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🎓 Teacher</a:t>
            </a:r>
            <a:endParaRPr lang="en-US" sz="2538" dirty="0"/>
          </a:p>
        </p:txBody>
      </p:sp>
      <p:sp>
        <p:nvSpPr>
          <p:cNvPr id="21" name="Text 19"/>
          <p:cNvSpPr/>
          <p:nvPr/>
        </p:nvSpPr>
        <p:spPr>
          <a:xfrm>
            <a:off x="7121471" y="5734755"/>
            <a:ext cx="4260678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own courses</a:t>
            </a:r>
            <a:endParaRPr lang="en-US" sz="2284" dirty="0"/>
          </a:p>
        </p:txBody>
      </p:sp>
      <p:sp>
        <p:nvSpPr>
          <p:cNvPr id="22" name="Text 20"/>
          <p:cNvSpPr/>
          <p:nvPr/>
        </p:nvSpPr>
        <p:spPr>
          <a:xfrm>
            <a:off x="7121471" y="6227645"/>
            <a:ext cx="4260678" cy="102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</a:pPr>
            <a:r>
              <a:rPr lang="en-US" sz="2284" b="1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new courses </a:t>
            </a:r>
            <a:pPr algn="l" indent="0" marL="0">
              <a:lnSpc>
                <a:spcPct val="153000"/>
              </a:lnSpc>
              <a:buNone/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admin</a:t>
            </a:r>
            <a:endParaRPr lang="en-US" sz="2284" dirty="0"/>
          </a:p>
        </p:txBody>
      </p:sp>
      <p:sp>
        <p:nvSpPr>
          <p:cNvPr id="23" name="Text 21"/>
          <p:cNvSpPr/>
          <p:nvPr/>
        </p:nvSpPr>
        <p:spPr>
          <a:xfrm>
            <a:off x="7121471" y="7213425"/>
            <a:ext cx="4260678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A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cannot approve or delete</a:t>
            </a:r>
            <a:endParaRPr lang="en-US" sz="2284" dirty="0"/>
          </a:p>
        </p:txBody>
      </p:sp>
      <p:sp>
        <p:nvSpPr>
          <p:cNvPr id="24" name="Shape 22"/>
          <p:cNvSpPr/>
          <p:nvPr/>
        </p:nvSpPr>
        <p:spPr>
          <a:xfrm>
            <a:off x="11951594" y="4595869"/>
            <a:ext cx="4927895" cy="3454260"/>
          </a:xfrm>
          <a:prstGeom prst="roundRect">
            <a:avLst>
              <a:gd name="adj" fmla="val 6221"/>
            </a:avLst>
          </a:prstGeom>
          <a:solidFill>
            <a:srgbClr val="FFFFFF"/>
          </a:solidFill>
          <a:ln w="42977">
            <a:solidFill>
              <a:srgbClr val="2B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94570" y="4638847"/>
            <a:ext cx="4841942" cy="838047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994570" y="5433917"/>
            <a:ext cx="4841942" cy="42977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27" name="Text 25"/>
          <p:cNvSpPr/>
          <p:nvPr/>
        </p:nvSpPr>
        <p:spPr>
          <a:xfrm>
            <a:off x="12252431" y="4810754"/>
            <a:ext cx="4471478" cy="48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🛡 Admin</a:t>
            </a:r>
            <a:endParaRPr lang="en-US" sz="2538" dirty="0"/>
          </a:p>
        </p:txBody>
      </p:sp>
      <p:sp>
        <p:nvSpPr>
          <p:cNvPr id="28" name="Text 26"/>
          <p:cNvSpPr/>
          <p:nvPr/>
        </p:nvSpPr>
        <p:spPr>
          <a:xfrm>
            <a:off x="12393180" y="5734755"/>
            <a:ext cx="4260678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</a:pPr>
            <a:r>
              <a:rPr lang="en-US" sz="2284" b="1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</a:t>
            </a:r>
            <a:pPr algn="l" indent="0" marL="0">
              <a:lnSpc>
                <a:spcPct val="153000"/>
              </a:lnSpc>
              <a:buNone/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2284" dirty="0"/>
          </a:p>
        </p:txBody>
      </p:sp>
      <p:sp>
        <p:nvSpPr>
          <p:cNvPr id="29" name="Text 27"/>
          <p:cNvSpPr/>
          <p:nvPr/>
        </p:nvSpPr>
        <p:spPr>
          <a:xfrm>
            <a:off x="12393180" y="6227645"/>
            <a:ext cx="4260678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</a:pPr>
            <a:r>
              <a:rPr lang="en-US" sz="2284" b="1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delete </a:t>
            </a:r>
            <a:pPr algn="l" indent="0" marL="0">
              <a:lnSpc>
                <a:spcPct val="153000"/>
              </a:lnSpc>
              <a:buNone/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course</a:t>
            </a:r>
            <a:endParaRPr lang="en-US" sz="2284" dirty="0"/>
          </a:p>
        </p:txBody>
      </p:sp>
      <p:sp>
        <p:nvSpPr>
          <p:cNvPr id="30" name="Text 28"/>
          <p:cNvSpPr/>
          <p:nvPr/>
        </p:nvSpPr>
        <p:spPr>
          <a:xfrm>
            <a:off x="12393180" y="6720535"/>
            <a:ext cx="4260678" cy="53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3065" indent="-203065">
              <a:lnSpc>
                <a:spcPct val="153000"/>
              </a:lnSpc>
              <a:buSzPct val="100000"/>
              <a:buChar char="•"/>
              <a:tabLst>
                <a:tab pos="203065" algn="l"/>
              </a:tabLst>
            </a:pPr>
            <a:r>
              <a:rPr lang="en-US" sz="2284" dirty="0">
                <a:solidFill>
                  <a:srgbClr val="3A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users &amp; roles</a:t>
            </a:r>
            <a:endParaRPr lang="en-US" sz="22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50624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Login — centered card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5120011" y="1486007"/>
            <a:ext cx="8047978" cy="8191286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3625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56263" y="1522259"/>
            <a:ext cx="7975472" cy="471278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7" name="Shape 5"/>
          <p:cNvSpPr/>
          <p:nvPr/>
        </p:nvSpPr>
        <p:spPr>
          <a:xfrm>
            <a:off x="5156263" y="1957285"/>
            <a:ext cx="7975472" cy="3625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5373777" y="1649141"/>
            <a:ext cx="181260" cy="181261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9" name="Shape 7"/>
          <p:cNvSpPr/>
          <p:nvPr/>
        </p:nvSpPr>
        <p:spPr>
          <a:xfrm>
            <a:off x="5663794" y="1649141"/>
            <a:ext cx="181260" cy="181261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10" name="Shape 8"/>
          <p:cNvSpPr/>
          <p:nvPr/>
        </p:nvSpPr>
        <p:spPr>
          <a:xfrm>
            <a:off x="5953811" y="1649141"/>
            <a:ext cx="181260" cy="181261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11" name="Shape 9"/>
          <p:cNvSpPr/>
          <p:nvPr/>
        </p:nvSpPr>
        <p:spPr>
          <a:xfrm>
            <a:off x="7375858" y="2631914"/>
            <a:ext cx="670948" cy="610622"/>
          </a:xfrm>
          <a:prstGeom prst="roundRect">
            <a:avLst>
              <a:gd name="adj" fmla="val 20779"/>
            </a:avLst>
          </a:prstGeom>
          <a:solidFill>
            <a:srgbClr val="BCD6F2"/>
          </a:solidFill>
          <a:ln w="36252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87319" y="2668167"/>
            <a:ext cx="448026" cy="57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3140" b="1" spc="-571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3140" dirty="0"/>
          </a:p>
        </p:txBody>
      </p:sp>
      <p:sp>
        <p:nvSpPr>
          <p:cNvPr id="13" name="Text 11"/>
          <p:cNvSpPr/>
          <p:nvPr/>
        </p:nvSpPr>
        <p:spPr>
          <a:xfrm>
            <a:off x="8173688" y="2665334"/>
            <a:ext cx="2820316" cy="581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4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140" dirty="0"/>
          </a:p>
        </p:txBody>
      </p:sp>
      <p:sp>
        <p:nvSpPr>
          <p:cNvPr id="14" name="Text 12"/>
          <p:cNvSpPr/>
          <p:nvPr/>
        </p:nvSpPr>
        <p:spPr>
          <a:xfrm>
            <a:off x="5555037" y="3315041"/>
            <a:ext cx="7177926" cy="47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41" dirty="0">
                <a:solidFill>
                  <a:srgbClr val="7A7A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Sign in to your account</a:t>
            </a:r>
            <a:endParaRPr lang="en-US" sz="2141" dirty="0"/>
          </a:p>
        </p:txBody>
      </p:sp>
      <p:sp>
        <p:nvSpPr>
          <p:cNvPr id="15" name="Text 13"/>
          <p:cNvSpPr/>
          <p:nvPr/>
        </p:nvSpPr>
        <p:spPr>
          <a:xfrm>
            <a:off x="5881307" y="4221345"/>
            <a:ext cx="7177926" cy="32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13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713" dirty="0"/>
          </a:p>
        </p:txBody>
      </p:sp>
      <p:sp>
        <p:nvSpPr>
          <p:cNvPr id="16" name="Shape 14"/>
          <p:cNvSpPr/>
          <p:nvPr/>
        </p:nvSpPr>
        <p:spPr>
          <a:xfrm>
            <a:off x="5881307" y="4601992"/>
            <a:ext cx="6525387" cy="779421"/>
          </a:xfrm>
          <a:prstGeom prst="roundRect">
            <a:avLst>
              <a:gd name="adj" fmla="val 18605"/>
            </a:avLst>
          </a:prstGeom>
          <a:solidFill>
            <a:srgbClr val="FBFCFF"/>
          </a:solidFill>
          <a:ln w="18126">
            <a:solidFill>
              <a:srgbClr val="2B2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6946" y="4819505"/>
            <a:ext cx="6249871" cy="38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98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you@example.edu</a:t>
            </a:r>
            <a:endParaRPr lang="en-US" sz="1998" dirty="0"/>
          </a:p>
        </p:txBody>
      </p:sp>
      <p:sp>
        <p:nvSpPr>
          <p:cNvPr id="18" name="Text 16"/>
          <p:cNvSpPr/>
          <p:nvPr/>
        </p:nvSpPr>
        <p:spPr>
          <a:xfrm>
            <a:off x="5881307" y="5671431"/>
            <a:ext cx="1001479" cy="32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13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713" dirty="0"/>
          </a:p>
        </p:txBody>
      </p:sp>
      <p:sp>
        <p:nvSpPr>
          <p:cNvPr id="19" name="Text 17"/>
          <p:cNvSpPr/>
          <p:nvPr/>
        </p:nvSpPr>
        <p:spPr>
          <a:xfrm>
            <a:off x="11670605" y="5671431"/>
            <a:ext cx="812289" cy="32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13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Forgot?</a:t>
            </a:r>
            <a:endParaRPr lang="en-US" sz="1713" dirty="0"/>
          </a:p>
        </p:txBody>
      </p:sp>
      <p:sp>
        <p:nvSpPr>
          <p:cNvPr id="20" name="Shape 18"/>
          <p:cNvSpPr/>
          <p:nvPr/>
        </p:nvSpPr>
        <p:spPr>
          <a:xfrm>
            <a:off x="5881307" y="6142709"/>
            <a:ext cx="6525387" cy="779421"/>
          </a:xfrm>
          <a:prstGeom prst="roundRect">
            <a:avLst>
              <a:gd name="adj" fmla="val 18605"/>
            </a:avLst>
          </a:prstGeom>
          <a:solidFill>
            <a:srgbClr val="FBFCFF"/>
          </a:solidFill>
          <a:ln w="18126">
            <a:solidFill>
              <a:srgbClr val="2B2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6946" y="6360222"/>
            <a:ext cx="6249871" cy="38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98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998" dirty="0"/>
          </a:p>
        </p:txBody>
      </p:sp>
      <p:sp>
        <p:nvSpPr>
          <p:cNvPr id="22" name="Shape 20"/>
          <p:cNvSpPr/>
          <p:nvPr/>
        </p:nvSpPr>
        <p:spPr>
          <a:xfrm>
            <a:off x="5881307" y="7357156"/>
            <a:ext cx="6525387" cy="924430"/>
          </a:xfrm>
          <a:prstGeom prst="roundRect">
            <a:avLst>
              <a:gd name="adj" fmla="val 17647"/>
            </a:avLst>
          </a:prstGeom>
          <a:solidFill>
            <a:srgbClr val="BCD6F2"/>
          </a:solidFill>
          <a:ln w="3625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40411" dir="2700000">
              <a:srgbClr val="2B2B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7191" y="7610921"/>
            <a:ext cx="6213619" cy="45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8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Sign in →</a:t>
            </a:r>
            <a:endParaRPr lang="en-US" sz="2284" dirty="0"/>
          </a:p>
        </p:txBody>
      </p:sp>
      <p:sp>
        <p:nvSpPr>
          <p:cNvPr id="24" name="Text 22"/>
          <p:cNvSpPr/>
          <p:nvPr/>
        </p:nvSpPr>
        <p:spPr>
          <a:xfrm>
            <a:off x="5555037" y="8644107"/>
            <a:ext cx="7177926" cy="346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55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here? </a:t>
            </a:r>
            <a:pPr algn="ctr" indent="0" marL="0">
              <a:buNone/>
            </a:pPr>
            <a:r>
              <a:rPr lang="en-US" sz="1855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account</a:t>
            </a:r>
            <a:endParaRPr lang="en-US" sz="185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56025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Login — split brand panel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2160270" y="1485424"/>
            <a:ext cx="13967459" cy="81924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44768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05038" y="1530191"/>
            <a:ext cx="6088380" cy="8102917"/>
          </a:xfrm>
          <a:prstGeom prst="rect">
            <a:avLst/>
          </a:prstGeom>
          <a:solidFill>
            <a:srgbClr val="DBE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48650" y="1530191"/>
            <a:ext cx="44768" cy="8102917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2652713" y="2092233"/>
            <a:ext cx="769791" cy="693896"/>
          </a:xfrm>
          <a:prstGeom prst="roundRect">
            <a:avLst>
              <a:gd name="adj" fmla="val 22581"/>
            </a:avLst>
          </a:prstGeom>
          <a:solidFill>
            <a:srgbClr val="BCD6F2"/>
          </a:solidFill>
          <a:ln w="44768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783" y="2137001"/>
            <a:ext cx="488630" cy="64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3525" b="1" spc="-705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3525" dirty="0"/>
          </a:p>
        </p:txBody>
      </p:sp>
      <p:sp>
        <p:nvSpPr>
          <p:cNvPr id="10" name="Text 8"/>
          <p:cNvSpPr/>
          <p:nvPr/>
        </p:nvSpPr>
        <p:spPr>
          <a:xfrm>
            <a:off x="3579190" y="2125809"/>
            <a:ext cx="3166136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2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525" dirty="0"/>
          </a:p>
        </p:txBody>
      </p:sp>
      <p:sp>
        <p:nvSpPr>
          <p:cNvPr id="11" name="Text 9"/>
          <p:cNvSpPr/>
          <p:nvPr/>
        </p:nvSpPr>
        <p:spPr>
          <a:xfrm>
            <a:off x="2652713" y="7495461"/>
            <a:ext cx="5302710" cy="110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63"/>
              </a:lnSpc>
              <a:buNone/>
            </a:pPr>
            <a:r>
              <a:rPr lang="en-US" sz="3349" b="1" dirty="0">
                <a:solidFill>
                  <a:srgbClr val="2B3A5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Keep learning, keep teaching.</a:t>
            </a:r>
            <a:endParaRPr lang="en-US" sz="3349" dirty="0"/>
          </a:p>
        </p:txBody>
      </p:sp>
      <p:sp>
        <p:nvSpPr>
          <p:cNvPr id="12" name="Text 10"/>
          <p:cNvSpPr/>
          <p:nvPr/>
        </p:nvSpPr>
        <p:spPr>
          <a:xfrm>
            <a:off x="2652713" y="8827294"/>
            <a:ext cx="5663088" cy="306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63" b="1" dirty="0">
                <a:solidFill>
                  <a:srgbClr val="7D8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brand illustration ]</a:t>
            </a:r>
            <a:endParaRPr lang="en-US" sz="1763" dirty="0"/>
          </a:p>
        </p:txBody>
      </p:sp>
      <p:sp>
        <p:nvSpPr>
          <p:cNvPr id="13" name="Text 11"/>
          <p:cNvSpPr/>
          <p:nvPr/>
        </p:nvSpPr>
        <p:spPr>
          <a:xfrm>
            <a:off x="9054465" y="2291239"/>
            <a:ext cx="6894194" cy="66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52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Welcome back</a:t>
            </a:r>
            <a:endParaRPr lang="en-US" sz="3525" dirty="0"/>
          </a:p>
        </p:txBody>
      </p:sp>
      <p:sp>
        <p:nvSpPr>
          <p:cNvPr id="14" name="Text 12"/>
          <p:cNvSpPr/>
          <p:nvPr/>
        </p:nvSpPr>
        <p:spPr>
          <a:xfrm>
            <a:off x="9054465" y="3410426"/>
            <a:ext cx="68941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1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2115" dirty="0"/>
          </a:p>
        </p:txBody>
      </p:sp>
      <p:sp>
        <p:nvSpPr>
          <p:cNvPr id="15" name="Shape 13"/>
          <p:cNvSpPr/>
          <p:nvPr/>
        </p:nvSpPr>
        <p:spPr>
          <a:xfrm>
            <a:off x="9054465" y="3880485"/>
            <a:ext cx="6267449" cy="917734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2384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5454" y="4126706"/>
            <a:ext cx="5873495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67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you@example.edu</a:t>
            </a:r>
            <a:endParaRPr lang="en-US" sz="2467" dirty="0"/>
          </a:p>
        </p:txBody>
      </p:sp>
      <p:sp>
        <p:nvSpPr>
          <p:cNvPr id="17" name="Text 15"/>
          <p:cNvSpPr/>
          <p:nvPr/>
        </p:nvSpPr>
        <p:spPr>
          <a:xfrm>
            <a:off x="9054465" y="5111591"/>
            <a:ext cx="68941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1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2115" dirty="0"/>
          </a:p>
        </p:txBody>
      </p:sp>
      <p:sp>
        <p:nvSpPr>
          <p:cNvPr id="18" name="Shape 16"/>
          <p:cNvSpPr/>
          <p:nvPr/>
        </p:nvSpPr>
        <p:spPr>
          <a:xfrm>
            <a:off x="9054465" y="5581650"/>
            <a:ext cx="6267449" cy="917734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2384">
            <a:solidFill>
              <a:srgbClr val="2B2B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454" y="5827871"/>
            <a:ext cx="5873495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67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2467" dirty="0"/>
          </a:p>
        </p:txBody>
      </p:sp>
      <p:sp>
        <p:nvSpPr>
          <p:cNvPr id="20" name="Shape 18"/>
          <p:cNvSpPr/>
          <p:nvPr/>
        </p:nvSpPr>
        <p:spPr>
          <a:xfrm>
            <a:off x="9054465" y="6991826"/>
            <a:ext cx="6267449" cy="1052036"/>
          </a:xfrm>
          <a:prstGeom prst="roundRect">
            <a:avLst>
              <a:gd name="adj" fmla="val 19149"/>
            </a:avLst>
          </a:prstGeom>
          <a:solidFill>
            <a:srgbClr val="BCD6F2"/>
          </a:solidFill>
          <a:ln w="44768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40411" dir="2700000">
              <a:srgbClr val="2B2B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1442" y="7282815"/>
            <a:ext cx="5873495" cy="50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64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Sign in →</a:t>
            </a:r>
            <a:endParaRPr lang="en-US" sz="2644" dirty="0"/>
          </a:p>
        </p:txBody>
      </p:sp>
      <p:sp>
        <p:nvSpPr>
          <p:cNvPr id="22" name="Text 20"/>
          <p:cNvSpPr/>
          <p:nvPr/>
        </p:nvSpPr>
        <p:spPr>
          <a:xfrm>
            <a:off x="9054465" y="8446770"/>
            <a:ext cx="6894194" cy="41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9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account? </a:t>
            </a:r>
            <a:pPr algn="l" indent="0" marL="0">
              <a:buNone/>
            </a:pPr>
            <a:r>
              <a:rPr lang="en-US" sz="2291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22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67784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Register — with role selection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229274" y="1485957"/>
            <a:ext cx="5829453" cy="8191386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25127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54401" y="1511084"/>
            <a:ext cx="5779198" cy="326650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7" name="Shape 5"/>
          <p:cNvSpPr/>
          <p:nvPr/>
        </p:nvSpPr>
        <p:spPr>
          <a:xfrm>
            <a:off x="6254401" y="1812608"/>
            <a:ext cx="5779198" cy="25127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6405163" y="1599029"/>
            <a:ext cx="125635" cy="125635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9" name="Shape 7"/>
          <p:cNvSpPr/>
          <p:nvPr/>
        </p:nvSpPr>
        <p:spPr>
          <a:xfrm>
            <a:off x="6606178" y="1599029"/>
            <a:ext cx="125635" cy="125635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10" name="Shape 8"/>
          <p:cNvSpPr/>
          <p:nvPr/>
        </p:nvSpPr>
        <p:spPr>
          <a:xfrm>
            <a:off x="6807194" y="1599029"/>
            <a:ext cx="125635" cy="125635"/>
          </a:xfrm>
          <a:prstGeom prst="ellipse">
            <a:avLst/>
          </a:prstGeom>
          <a:solidFill>
            <a:srgbClr val="C9CEDE"/>
          </a:solidFill>
          <a:ln/>
        </p:spPr>
      </p:sp>
      <p:sp>
        <p:nvSpPr>
          <p:cNvPr id="11" name="Text 9"/>
          <p:cNvSpPr/>
          <p:nvPr/>
        </p:nvSpPr>
        <p:spPr>
          <a:xfrm>
            <a:off x="6490594" y="2214639"/>
            <a:ext cx="5306812" cy="40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7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Create your account</a:t>
            </a:r>
            <a:endParaRPr lang="en-US" sz="2077" dirty="0"/>
          </a:p>
        </p:txBody>
      </p:sp>
      <p:sp>
        <p:nvSpPr>
          <p:cNvPr id="12" name="Text 10"/>
          <p:cNvSpPr/>
          <p:nvPr/>
        </p:nvSpPr>
        <p:spPr>
          <a:xfrm>
            <a:off x="6490594" y="2604106"/>
            <a:ext cx="5306812" cy="314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85" dirty="0">
                <a:solidFill>
                  <a:srgbClr val="7A7A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Join Learning Home</a:t>
            </a:r>
            <a:endParaRPr lang="en-US" sz="1385" dirty="0"/>
          </a:p>
        </p:txBody>
      </p:sp>
      <p:sp>
        <p:nvSpPr>
          <p:cNvPr id="13" name="Text 11"/>
          <p:cNvSpPr/>
          <p:nvPr/>
        </p:nvSpPr>
        <p:spPr>
          <a:xfrm>
            <a:off x="6731813" y="3156899"/>
            <a:ext cx="5306812" cy="23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7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1187" dirty="0"/>
          </a:p>
        </p:txBody>
      </p:sp>
      <p:sp>
        <p:nvSpPr>
          <p:cNvPr id="14" name="Shape 12"/>
          <p:cNvSpPr/>
          <p:nvPr/>
        </p:nvSpPr>
        <p:spPr>
          <a:xfrm>
            <a:off x="6731813" y="3420732"/>
            <a:ext cx="4824375" cy="489975"/>
          </a:xfrm>
          <a:prstGeom prst="roundRect">
            <a:avLst>
              <a:gd name="adj" fmla="val 20513"/>
            </a:avLst>
          </a:prstGeom>
          <a:solidFill>
            <a:srgbClr val="FBFCFF"/>
          </a:solidFill>
          <a:ln w="12563">
            <a:solidFill>
              <a:srgbClr val="2B2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2575" y="3558931"/>
            <a:ext cx="4667583" cy="25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86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 Doe</a:t>
            </a:r>
            <a:endParaRPr lang="en-US" sz="1286" dirty="0"/>
          </a:p>
        </p:txBody>
      </p:sp>
      <p:sp>
        <p:nvSpPr>
          <p:cNvPr id="16" name="Text 14"/>
          <p:cNvSpPr/>
          <p:nvPr/>
        </p:nvSpPr>
        <p:spPr>
          <a:xfrm>
            <a:off x="6731813" y="4086596"/>
            <a:ext cx="5306812" cy="23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7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87" dirty="0"/>
          </a:p>
        </p:txBody>
      </p:sp>
      <p:sp>
        <p:nvSpPr>
          <p:cNvPr id="17" name="Shape 15"/>
          <p:cNvSpPr/>
          <p:nvPr/>
        </p:nvSpPr>
        <p:spPr>
          <a:xfrm>
            <a:off x="6731813" y="4350430"/>
            <a:ext cx="4824375" cy="489976"/>
          </a:xfrm>
          <a:prstGeom prst="roundRect">
            <a:avLst>
              <a:gd name="adj" fmla="val 20513"/>
            </a:avLst>
          </a:prstGeom>
          <a:solidFill>
            <a:srgbClr val="FBFCFF"/>
          </a:solidFill>
          <a:ln w="12563">
            <a:solidFill>
              <a:srgbClr val="2B2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2575" y="4488628"/>
            <a:ext cx="4667583" cy="25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86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you@example.edu</a:t>
            </a:r>
            <a:endParaRPr lang="en-US" sz="1286" dirty="0"/>
          </a:p>
        </p:txBody>
      </p:sp>
      <p:sp>
        <p:nvSpPr>
          <p:cNvPr id="19" name="Text 17"/>
          <p:cNvSpPr/>
          <p:nvPr/>
        </p:nvSpPr>
        <p:spPr>
          <a:xfrm>
            <a:off x="6731813" y="5016294"/>
            <a:ext cx="2570487" cy="23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7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187" dirty="0"/>
          </a:p>
        </p:txBody>
      </p:sp>
      <p:sp>
        <p:nvSpPr>
          <p:cNvPr id="20" name="Shape 18"/>
          <p:cNvSpPr/>
          <p:nvPr/>
        </p:nvSpPr>
        <p:spPr>
          <a:xfrm>
            <a:off x="6731813" y="5280127"/>
            <a:ext cx="2336806" cy="489976"/>
          </a:xfrm>
          <a:prstGeom prst="roundRect">
            <a:avLst>
              <a:gd name="adj" fmla="val 20513"/>
            </a:avLst>
          </a:prstGeom>
          <a:solidFill>
            <a:srgbClr val="FBFCFF"/>
          </a:solidFill>
          <a:ln w="12563">
            <a:solidFill>
              <a:srgbClr val="2B2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2575" y="5418325"/>
            <a:ext cx="2111483" cy="25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86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286" dirty="0"/>
          </a:p>
        </p:txBody>
      </p:sp>
      <p:sp>
        <p:nvSpPr>
          <p:cNvPr id="22" name="Text 20"/>
          <p:cNvSpPr/>
          <p:nvPr/>
        </p:nvSpPr>
        <p:spPr>
          <a:xfrm>
            <a:off x="9219381" y="5016294"/>
            <a:ext cx="2570487" cy="23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7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187" dirty="0"/>
          </a:p>
        </p:txBody>
      </p:sp>
      <p:sp>
        <p:nvSpPr>
          <p:cNvPr id="23" name="Shape 21"/>
          <p:cNvSpPr/>
          <p:nvPr/>
        </p:nvSpPr>
        <p:spPr>
          <a:xfrm>
            <a:off x="9219381" y="5280127"/>
            <a:ext cx="2336807" cy="489976"/>
          </a:xfrm>
          <a:prstGeom prst="roundRect">
            <a:avLst>
              <a:gd name="adj" fmla="val 20513"/>
            </a:avLst>
          </a:prstGeom>
          <a:solidFill>
            <a:srgbClr val="FBFCFF"/>
          </a:solidFill>
          <a:ln w="12563">
            <a:solidFill>
              <a:srgbClr val="2B2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0143" y="5418325"/>
            <a:ext cx="2111483" cy="25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86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286" dirty="0"/>
          </a:p>
        </p:txBody>
      </p:sp>
      <p:sp>
        <p:nvSpPr>
          <p:cNvPr id="25" name="Text 23"/>
          <p:cNvSpPr/>
          <p:nvPr/>
        </p:nvSpPr>
        <p:spPr>
          <a:xfrm>
            <a:off x="6731813" y="5971118"/>
            <a:ext cx="5306812" cy="23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7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registering as</a:t>
            </a:r>
            <a:endParaRPr lang="en-US" sz="1187" dirty="0"/>
          </a:p>
        </p:txBody>
      </p:sp>
      <p:sp>
        <p:nvSpPr>
          <p:cNvPr id="26" name="Shape 24"/>
          <p:cNvSpPr/>
          <p:nvPr/>
        </p:nvSpPr>
        <p:spPr>
          <a:xfrm>
            <a:off x="6731813" y="6247514"/>
            <a:ext cx="2361933" cy="527667"/>
          </a:xfrm>
          <a:prstGeom prst="roundRect">
            <a:avLst>
              <a:gd name="adj" fmla="val 19048"/>
            </a:avLst>
          </a:prstGeom>
          <a:solidFill>
            <a:srgbClr val="BCD6F2"/>
          </a:solidFill>
          <a:ln w="25127">
            <a:solidFill>
              <a:srgbClr val="2B2B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1911" y="6385712"/>
            <a:ext cx="2161737" cy="28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8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👤 Student</a:t>
            </a:r>
            <a:endParaRPr lang="en-US" sz="1385" dirty="0"/>
          </a:p>
        </p:txBody>
      </p:sp>
      <p:sp>
        <p:nvSpPr>
          <p:cNvPr id="28" name="Shape 26"/>
          <p:cNvSpPr/>
          <p:nvPr/>
        </p:nvSpPr>
        <p:spPr>
          <a:xfrm>
            <a:off x="9219381" y="6247514"/>
            <a:ext cx="2336807" cy="527667"/>
          </a:xfrm>
          <a:prstGeom prst="roundRect">
            <a:avLst>
              <a:gd name="adj" fmla="val 19048"/>
            </a:avLst>
          </a:prstGeom>
          <a:solidFill>
            <a:srgbClr val="EEF7F1"/>
          </a:solidFill>
          <a:ln w="12563">
            <a:solidFill>
              <a:srgbClr val="2B8A5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306916" y="6373149"/>
            <a:ext cx="2161737" cy="314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85" dirty="0">
                <a:solidFill>
                  <a:srgbClr val="2B6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🎓 Teacher</a:t>
            </a:r>
            <a:endParaRPr lang="en-US" sz="1385" dirty="0"/>
          </a:p>
        </p:txBody>
      </p:sp>
      <p:sp>
        <p:nvSpPr>
          <p:cNvPr id="30" name="Shape 28"/>
          <p:cNvSpPr/>
          <p:nvPr/>
        </p:nvSpPr>
        <p:spPr>
          <a:xfrm>
            <a:off x="6731813" y="6850561"/>
            <a:ext cx="4824375" cy="414594"/>
          </a:xfrm>
          <a:prstGeom prst="roundRect">
            <a:avLst>
              <a:gd name="adj" fmla="val 24242"/>
            </a:avLst>
          </a:prstGeom>
          <a:solidFill>
            <a:srgbClr val="EEF7F1"/>
          </a:solidFill>
          <a:ln w="12563">
            <a:solidFill>
              <a:srgbClr val="2B8A5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870011" y="6963632"/>
            <a:ext cx="4692710" cy="226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8" dirty="0">
                <a:solidFill>
                  <a:srgbClr val="2B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sign-ups require admin verification before publishing courses.</a:t>
            </a:r>
            <a:endParaRPr lang="en-US" sz="1138" dirty="0"/>
          </a:p>
        </p:txBody>
      </p:sp>
      <p:sp>
        <p:nvSpPr>
          <p:cNvPr id="32" name="Shape 30"/>
          <p:cNvSpPr/>
          <p:nvPr/>
        </p:nvSpPr>
        <p:spPr>
          <a:xfrm>
            <a:off x="6731813" y="7340537"/>
            <a:ext cx="4824375" cy="603047"/>
          </a:xfrm>
          <a:prstGeom prst="roundRect">
            <a:avLst>
              <a:gd name="adj" fmla="val 16667"/>
            </a:avLst>
          </a:prstGeom>
          <a:solidFill>
            <a:srgbClr val="F1ECFB"/>
          </a:solidFill>
          <a:ln w="12563">
            <a:solidFill>
              <a:srgbClr val="9A7FD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870011" y="7453608"/>
            <a:ext cx="4692710" cy="415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8" dirty="0">
                <a:solidFill>
                  <a:srgbClr val="5A4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accounts can't self-register; they're created by an existing admin.</a:t>
            </a:r>
            <a:endParaRPr lang="en-US" sz="1138" dirty="0"/>
          </a:p>
        </p:txBody>
      </p:sp>
      <p:sp>
        <p:nvSpPr>
          <p:cNvPr id="34" name="Shape 32"/>
          <p:cNvSpPr/>
          <p:nvPr/>
        </p:nvSpPr>
        <p:spPr>
          <a:xfrm>
            <a:off x="6731813" y="8169726"/>
            <a:ext cx="4824375" cy="640738"/>
          </a:xfrm>
          <a:prstGeom prst="roundRect">
            <a:avLst>
              <a:gd name="adj" fmla="val 17647"/>
            </a:avLst>
          </a:prstGeom>
          <a:solidFill>
            <a:srgbClr val="C7E8D6"/>
          </a:solidFill>
          <a:ln w="25127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40411" dir="2700000">
              <a:srgbClr val="2B2B33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35336" y="8345614"/>
            <a:ext cx="4617329" cy="327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8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Create account</a:t>
            </a:r>
            <a:endParaRPr lang="en-US" sz="1583" dirty="0"/>
          </a:p>
        </p:txBody>
      </p:sp>
      <p:sp>
        <p:nvSpPr>
          <p:cNvPr id="36" name="Text 34"/>
          <p:cNvSpPr/>
          <p:nvPr/>
        </p:nvSpPr>
        <p:spPr>
          <a:xfrm>
            <a:off x="6490594" y="9011479"/>
            <a:ext cx="5306812" cy="25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86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registered? </a:t>
            </a:r>
            <a:pPr algn="ctr" indent="0" marL="0">
              <a:buNone/>
            </a:pPr>
            <a:r>
              <a:rPr lang="en-US" sz="1286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28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85750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 homepage — course card grid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0781" y="1885971"/>
            <a:ext cx="16766437" cy="7391209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43891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862"/>
            <a:ext cx="16678656" cy="1316736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3202707"/>
            <a:ext cx="16678656" cy="43891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66590"/>
            <a:ext cx="696773" cy="620992"/>
          </a:xfrm>
          <a:prstGeom prst="roundRect">
            <a:avLst>
              <a:gd name="adj" fmla="val 24738"/>
            </a:avLst>
          </a:prstGeom>
          <a:solidFill>
            <a:srgbClr val="BCD6F2"/>
          </a:solidFill>
          <a:ln w="43891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9149" y="2310481"/>
            <a:ext cx="415321" cy="571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0"/>
              </a:lnSpc>
              <a:buNone/>
            </a:pPr>
            <a:r>
              <a:rPr lang="en-US" sz="3110" b="1" spc="-691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3110" dirty="0"/>
          </a:p>
        </p:txBody>
      </p:sp>
      <p:sp>
        <p:nvSpPr>
          <p:cNvPr id="10" name="Text 8"/>
          <p:cNvSpPr/>
          <p:nvPr/>
        </p:nvSpPr>
        <p:spPr>
          <a:xfrm>
            <a:off x="2093976" y="2302594"/>
            <a:ext cx="2793709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1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110" dirty="0"/>
          </a:p>
        </p:txBody>
      </p:sp>
      <p:sp>
        <p:nvSpPr>
          <p:cNvPr id="11" name="Shape 9"/>
          <p:cNvSpPr/>
          <p:nvPr/>
        </p:nvSpPr>
        <p:spPr>
          <a:xfrm>
            <a:off x="5157444" y="2204182"/>
            <a:ext cx="5863932" cy="7242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1946">
            <a:solidFill>
              <a:srgbClr val="B9B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628" y="2379747"/>
            <a:ext cx="5381482" cy="41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46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Search courses…</a:t>
            </a:r>
            <a:endParaRPr lang="en-US" sz="2246" dirty="0"/>
          </a:p>
        </p:txBody>
      </p:sp>
      <p:sp>
        <p:nvSpPr>
          <p:cNvPr id="13" name="Shape 11"/>
          <p:cNvSpPr/>
          <p:nvPr/>
        </p:nvSpPr>
        <p:spPr>
          <a:xfrm>
            <a:off x="11372506" y="2763795"/>
            <a:ext cx="1644548" cy="43891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4" name="Text 12"/>
          <p:cNvSpPr/>
          <p:nvPr/>
        </p:nvSpPr>
        <p:spPr>
          <a:xfrm>
            <a:off x="11372506" y="2324883"/>
            <a:ext cx="1809003" cy="47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19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2419" dirty="0"/>
          </a:p>
        </p:txBody>
      </p:sp>
      <p:sp>
        <p:nvSpPr>
          <p:cNvPr id="15" name="Text 13"/>
          <p:cNvSpPr/>
          <p:nvPr/>
        </p:nvSpPr>
        <p:spPr>
          <a:xfrm>
            <a:off x="13368184" y="2324883"/>
            <a:ext cx="932422" cy="520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19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Grades</a:t>
            </a:r>
            <a:endParaRPr lang="en-US" sz="2419" dirty="0"/>
          </a:p>
        </p:txBody>
      </p:sp>
      <p:sp>
        <p:nvSpPr>
          <p:cNvPr id="16" name="Shape 14"/>
          <p:cNvSpPr/>
          <p:nvPr/>
        </p:nvSpPr>
        <p:spPr>
          <a:xfrm>
            <a:off x="14575536" y="2324883"/>
            <a:ext cx="1371600" cy="482803"/>
          </a:xfrm>
          <a:prstGeom prst="roundRect">
            <a:avLst>
              <a:gd name="adj" fmla="val 50000"/>
            </a:avLst>
          </a:prstGeom>
          <a:solidFill>
            <a:srgbClr val="BCD6F2"/>
          </a:solidFill>
          <a:ln w="43891">
            <a:solidFill>
              <a:srgbClr val="2B2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38883" y="2434611"/>
            <a:ext cx="921106" cy="30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728" dirty="0"/>
          </a:p>
        </p:txBody>
      </p:sp>
      <p:sp>
        <p:nvSpPr>
          <p:cNvPr id="18" name="Shape 16"/>
          <p:cNvSpPr/>
          <p:nvPr/>
        </p:nvSpPr>
        <p:spPr>
          <a:xfrm>
            <a:off x="16298266" y="2193209"/>
            <a:ext cx="746150" cy="746150"/>
          </a:xfrm>
          <a:prstGeom prst="ellipse">
            <a:avLst/>
          </a:prstGeom>
          <a:solidFill>
            <a:srgbClr val="DBE4F5"/>
          </a:solidFill>
          <a:ln w="43891">
            <a:solidFill>
              <a:srgbClr val="2B2B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1366" y="3751347"/>
            <a:ext cx="2455130" cy="630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8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3283" dirty="0"/>
          </a:p>
        </p:txBody>
      </p:sp>
      <p:sp>
        <p:nvSpPr>
          <p:cNvPr id="20" name="Shape 18"/>
          <p:cNvSpPr/>
          <p:nvPr/>
        </p:nvSpPr>
        <p:spPr>
          <a:xfrm>
            <a:off x="14097191" y="3729401"/>
            <a:ext cx="2859442" cy="811987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21946">
            <a:solidFill>
              <a:srgbClr val="2B2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26375" y="3904966"/>
            <a:ext cx="2286857" cy="498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46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＋ Browse catalog</a:t>
            </a:r>
            <a:endParaRPr lang="en-US" sz="2246" dirty="0"/>
          </a:p>
        </p:txBody>
      </p:sp>
      <p:sp>
        <p:nvSpPr>
          <p:cNvPr id="22" name="Shape 20"/>
          <p:cNvSpPr/>
          <p:nvPr/>
        </p:nvSpPr>
        <p:spPr>
          <a:xfrm>
            <a:off x="1331366" y="4892518"/>
            <a:ext cx="4974107" cy="3770186"/>
          </a:xfrm>
          <a:prstGeom prst="roundRect">
            <a:avLst>
              <a:gd name="adj" fmla="val 5821"/>
            </a:avLst>
          </a:prstGeom>
          <a:ln w="43891">
            <a:solidFill>
              <a:srgbClr val="2B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5258" y="4936409"/>
            <a:ext cx="4886325" cy="1667866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5258" y="6560384"/>
            <a:ext cx="4886325" cy="43891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25" name="Text 23"/>
          <p:cNvSpPr/>
          <p:nvPr/>
        </p:nvSpPr>
        <p:spPr>
          <a:xfrm>
            <a:off x="1301963" y="4936409"/>
            <a:ext cx="5032915" cy="1662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8A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thumb</a:t>
            </a:r>
            <a:endParaRPr lang="en-US" sz="1728" dirty="0"/>
          </a:p>
        </p:txBody>
      </p:sp>
      <p:sp>
        <p:nvSpPr>
          <p:cNvPr id="26" name="Text 24"/>
          <p:cNvSpPr/>
          <p:nvPr/>
        </p:nvSpPr>
        <p:spPr>
          <a:xfrm>
            <a:off x="1638605" y="6823731"/>
            <a:ext cx="4795593" cy="40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24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2419" dirty="0"/>
          </a:p>
        </p:txBody>
      </p:sp>
      <p:sp>
        <p:nvSpPr>
          <p:cNvPr id="27" name="Text 25"/>
          <p:cNvSpPr/>
          <p:nvPr/>
        </p:nvSpPr>
        <p:spPr>
          <a:xfrm>
            <a:off x="1638605" y="7258185"/>
            <a:ext cx="4795593" cy="36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0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Alvarez</a:t>
            </a:r>
            <a:endParaRPr lang="en-US" sz="1901" dirty="0"/>
          </a:p>
        </p:txBody>
      </p:sp>
      <p:sp>
        <p:nvSpPr>
          <p:cNvPr id="28" name="Shape 26"/>
          <p:cNvSpPr/>
          <p:nvPr/>
        </p:nvSpPr>
        <p:spPr>
          <a:xfrm>
            <a:off x="1638605" y="7762934"/>
            <a:ext cx="4359630" cy="19751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1946">
            <a:solidFill>
              <a:srgbClr val="2B2B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0550" y="7784879"/>
            <a:ext cx="2589238" cy="153619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30" name="Text 28"/>
          <p:cNvSpPr/>
          <p:nvPr/>
        </p:nvSpPr>
        <p:spPr>
          <a:xfrm>
            <a:off x="1638605" y="8048227"/>
            <a:ext cx="4795593" cy="34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complete</a:t>
            </a:r>
            <a:endParaRPr lang="en-US" sz="1728" dirty="0"/>
          </a:p>
        </p:txBody>
      </p:sp>
      <p:sp>
        <p:nvSpPr>
          <p:cNvPr id="31" name="Shape 29"/>
          <p:cNvSpPr/>
          <p:nvPr/>
        </p:nvSpPr>
        <p:spPr>
          <a:xfrm>
            <a:off x="6656603" y="4892518"/>
            <a:ext cx="4974450" cy="3770186"/>
          </a:xfrm>
          <a:prstGeom prst="roundRect">
            <a:avLst>
              <a:gd name="adj" fmla="val 5821"/>
            </a:avLst>
          </a:prstGeom>
          <a:ln w="43891">
            <a:solidFill>
              <a:srgbClr val="2B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0494" y="4936409"/>
            <a:ext cx="4886668" cy="1667866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0494" y="6560384"/>
            <a:ext cx="4886668" cy="43891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34" name="Text 32"/>
          <p:cNvSpPr/>
          <p:nvPr/>
        </p:nvSpPr>
        <p:spPr>
          <a:xfrm>
            <a:off x="6627194" y="4936409"/>
            <a:ext cx="5033268" cy="1662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8A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thumb</a:t>
            </a:r>
            <a:endParaRPr lang="en-US" sz="1728" dirty="0"/>
          </a:p>
        </p:txBody>
      </p:sp>
      <p:sp>
        <p:nvSpPr>
          <p:cNvPr id="35" name="Text 33"/>
          <p:cNvSpPr/>
          <p:nvPr/>
        </p:nvSpPr>
        <p:spPr>
          <a:xfrm>
            <a:off x="6963842" y="6823731"/>
            <a:ext cx="4795971" cy="40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24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2419" dirty="0"/>
          </a:p>
        </p:txBody>
      </p:sp>
      <p:sp>
        <p:nvSpPr>
          <p:cNvPr id="36" name="Text 34"/>
          <p:cNvSpPr/>
          <p:nvPr/>
        </p:nvSpPr>
        <p:spPr>
          <a:xfrm>
            <a:off x="6963842" y="7258185"/>
            <a:ext cx="4795971" cy="36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0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Chen</a:t>
            </a:r>
            <a:endParaRPr lang="en-US" sz="1901" dirty="0"/>
          </a:p>
        </p:txBody>
      </p:sp>
      <p:sp>
        <p:nvSpPr>
          <p:cNvPr id="37" name="Shape 35"/>
          <p:cNvSpPr/>
          <p:nvPr/>
        </p:nvSpPr>
        <p:spPr>
          <a:xfrm>
            <a:off x="6963842" y="7762934"/>
            <a:ext cx="4359974" cy="19751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1946">
            <a:solidFill>
              <a:srgbClr val="2B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5787" y="7784879"/>
            <a:ext cx="1078764" cy="153619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39" name="Text 37"/>
          <p:cNvSpPr/>
          <p:nvPr/>
        </p:nvSpPr>
        <p:spPr>
          <a:xfrm>
            <a:off x="6963842" y="8048227"/>
            <a:ext cx="4795971" cy="34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complete</a:t>
            </a:r>
            <a:endParaRPr lang="en-US" sz="1728" dirty="0"/>
          </a:p>
        </p:txBody>
      </p:sp>
      <p:sp>
        <p:nvSpPr>
          <p:cNvPr id="40" name="Shape 38"/>
          <p:cNvSpPr/>
          <p:nvPr/>
        </p:nvSpPr>
        <p:spPr>
          <a:xfrm>
            <a:off x="11982183" y="4892518"/>
            <a:ext cx="4974450" cy="3770186"/>
          </a:xfrm>
          <a:prstGeom prst="roundRect">
            <a:avLst>
              <a:gd name="adj" fmla="val 5821"/>
            </a:avLst>
          </a:prstGeom>
          <a:ln w="43891">
            <a:solidFill>
              <a:srgbClr val="2B2B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26075" y="4936409"/>
            <a:ext cx="4886667" cy="1667866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26075" y="6560384"/>
            <a:ext cx="4886667" cy="43891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43" name="Text 41"/>
          <p:cNvSpPr/>
          <p:nvPr/>
        </p:nvSpPr>
        <p:spPr>
          <a:xfrm>
            <a:off x="11952775" y="4936409"/>
            <a:ext cx="5033267" cy="1662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8A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thumb</a:t>
            </a:r>
            <a:endParaRPr lang="en-US" sz="1728" dirty="0"/>
          </a:p>
        </p:txBody>
      </p:sp>
      <p:sp>
        <p:nvSpPr>
          <p:cNvPr id="44" name="Text 42"/>
          <p:cNvSpPr/>
          <p:nvPr/>
        </p:nvSpPr>
        <p:spPr>
          <a:xfrm>
            <a:off x="12289422" y="6823731"/>
            <a:ext cx="4795971" cy="40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24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Spanish A1</a:t>
            </a:r>
            <a:endParaRPr lang="en-US" sz="2419" dirty="0"/>
          </a:p>
        </p:txBody>
      </p:sp>
      <p:sp>
        <p:nvSpPr>
          <p:cNvPr id="45" name="Text 43"/>
          <p:cNvSpPr/>
          <p:nvPr/>
        </p:nvSpPr>
        <p:spPr>
          <a:xfrm>
            <a:off x="12289422" y="7258185"/>
            <a:ext cx="4795971" cy="36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0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Ortiz</a:t>
            </a:r>
            <a:endParaRPr lang="en-US" sz="1901" dirty="0"/>
          </a:p>
        </p:txBody>
      </p:sp>
      <p:sp>
        <p:nvSpPr>
          <p:cNvPr id="46" name="Shape 44"/>
          <p:cNvSpPr/>
          <p:nvPr/>
        </p:nvSpPr>
        <p:spPr>
          <a:xfrm>
            <a:off x="12289422" y="7762934"/>
            <a:ext cx="4359973" cy="19751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1946">
            <a:solidFill>
              <a:srgbClr val="2B2B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311367" y="7784879"/>
            <a:ext cx="3884370" cy="153619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48" name="Text 46"/>
          <p:cNvSpPr/>
          <p:nvPr/>
        </p:nvSpPr>
        <p:spPr>
          <a:xfrm>
            <a:off x="12289422" y="8048227"/>
            <a:ext cx="4795971" cy="34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complete</a:t>
            </a:r>
            <a:endParaRPr lang="en-US" sz="172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7819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 homepage — sidebar + list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57631" y="1486367"/>
            <a:ext cx="15972739" cy="8190566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45377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3008" y="1531744"/>
            <a:ext cx="4537710" cy="8099813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7" name="Shape 5"/>
          <p:cNvSpPr/>
          <p:nvPr/>
        </p:nvSpPr>
        <p:spPr>
          <a:xfrm>
            <a:off x="5695340" y="1531744"/>
            <a:ext cx="45377" cy="8099813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1520647" y="1961408"/>
            <a:ext cx="690228" cy="611173"/>
          </a:xfrm>
          <a:prstGeom prst="roundRect">
            <a:avLst>
              <a:gd name="adj" fmla="val 25986"/>
            </a:avLst>
          </a:prstGeom>
          <a:solidFill>
            <a:srgbClr val="BCD6F2"/>
          </a:solidFill>
          <a:ln w="45377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2156" y="2006785"/>
            <a:ext cx="396234" cy="558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25"/>
              </a:lnSpc>
              <a:buNone/>
            </a:pPr>
            <a:r>
              <a:rPr lang="en-US" sz="3037" b="1" spc="-715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3037" dirty="0"/>
          </a:p>
        </p:txBody>
      </p:sp>
      <p:sp>
        <p:nvSpPr>
          <p:cNvPr id="10" name="Text 8"/>
          <p:cNvSpPr/>
          <p:nvPr/>
        </p:nvSpPr>
        <p:spPr>
          <a:xfrm>
            <a:off x="2369695" y="1994732"/>
            <a:ext cx="2727990" cy="5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3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037" dirty="0"/>
          </a:p>
        </p:txBody>
      </p:sp>
      <p:sp>
        <p:nvSpPr>
          <p:cNvPr id="11" name="Shape 9"/>
          <p:cNvSpPr/>
          <p:nvPr/>
        </p:nvSpPr>
        <p:spPr>
          <a:xfrm>
            <a:off x="1520647" y="3026352"/>
            <a:ext cx="3857054" cy="794099"/>
          </a:xfrm>
          <a:prstGeom prst="roundRect">
            <a:avLst>
              <a:gd name="adj" fmla="val 20000"/>
            </a:avLst>
          </a:prstGeom>
          <a:solidFill>
            <a:srgbClr val="BCD6F2"/>
          </a:solidFill>
          <a:ln w="22689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0221" y="3207861"/>
            <a:ext cx="3473617" cy="469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01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▤ Dashboard</a:t>
            </a:r>
            <a:endParaRPr lang="en-US" sz="2501" dirty="0"/>
          </a:p>
        </p:txBody>
      </p:sp>
      <p:sp>
        <p:nvSpPr>
          <p:cNvPr id="13" name="Text 11"/>
          <p:cNvSpPr/>
          <p:nvPr/>
        </p:nvSpPr>
        <p:spPr>
          <a:xfrm>
            <a:off x="1747533" y="4070025"/>
            <a:ext cx="3518994" cy="537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0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📚 My Courses</a:t>
            </a:r>
            <a:endParaRPr lang="en-US" sz="2501" dirty="0"/>
          </a:p>
        </p:txBody>
      </p:sp>
      <p:sp>
        <p:nvSpPr>
          <p:cNvPr id="14" name="Text 12"/>
          <p:cNvSpPr/>
          <p:nvPr/>
        </p:nvSpPr>
        <p:spPr>
          <a:xfrm>
            <a:off x="1747533" y="4977567"/>
            <a:ext cx="3518994" cy="537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0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✓ Grades</a:t>
            </a:r>
            <a:endParaRPr lang="en-US" sz="2501" dirty="0"/>
          </a:p>
        </p:txBody>
      </p:sp>
      <p:sp>
        <p:nvSpPr>
          <p:cNvPr id="15" name="Shape 13"/>
          <p:cNvSpPr/>
          <p:nvPr/>
        </p:nvSpPr>
        <p:spPr>
          <a:xfrm>
            <a:off x="1520647" y="6157372"/>
            <a:ext cx="1418034" cy="499148"/>
          </a:xfrm>
          <a:prstGeom prst="roundRect">
            <a:avLst>
              <a:gd name="adj" fmla="val 50000"/>
            </a:avLst>
          </a:prstGeom>
          <a:solidFill>
            <a:srgbClr val="BCD6F2"/>
          </a:solidFill>
          <a:ln w="45377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910" y="6270815"/>
            <a:ext cx="949709" cy="31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87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787" dirty="0"/>
          </a:p>
        </p:txBody>
      </p:sp>
      <p:sp>
        <p:nvSpPr>
          <p:cNvPr id="17" name="Text 15"/>
          <p:cNvSpPr/>
          <p:nvPr/>
        </p:nvSpPr>
        <p:spPr>
          <a:xfrm>
            <a:off x="6285243" y="2030892"/>
            <a:ext cx="11280748" cy="65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9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Continue learning</a:t>
            </a:r>
            <a:endParaRPr lang="en-US" sz="3394" dirty="0"/>
          </a:p>
        </p:txBody>
      </p:sp>
      <p:sp>
        <p:nvSpPr>
          <p:cNvPr id="18" name="Text 16"/>
          <p:cNvSpPr/>
          <p:nvPr/>
        </p:nvSpPr>
        <p:spPr>
          <a:xfrm>
            <a:off x="6285243" y="2734237"/>
            <a:ext cx="11280748" cy="401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44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 courses</a:t>
            </a:r>
            <a:endParaRPr lang="en-US" sz="2144" dirty="0"/>
          </a:p>
        </p:txBody>
      </p:sp>
      <p:sp>
        <p:nvSpPr>
          <p:cNvPr id="19" name="Shape 17"/>
          <p:cNvSpPr/>
          <p:nvPr/>
        </p:nvSpPr>
        <p:spPr>
          <a:xfrm>
            <a:off x="6285243" y="3505648"/>
            <a:ext cx="10255225" cy="1678953"/>
          </a:xfrm>
          <a:prstGeom prst="roundRect">
            <a:avLst>
              <a:gd name="adj" fmla="val 13514"/>
            </a:avLst>
          </a:prstGeom>
          <a:ln w="45377">
            <a:solidFill>
              <a:srgbClr val="2B2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8259" y="3823288"/>
            <a:ext cx="1225182" cy="1043673"/>
          </a:xfrm>
          <a:prstGeom prst="roundRect">
            <a:avLst>
              <a:gd name="adj" fmla="val 13043"/>
            </a:avLst>
          </a:prstGeom>
          <a:solidFill>
            <a:srgbClr val="E6E9F0"/>
          </a:solidFill>
          <a:ln w="22689">
            <a:solidFill>
              <a:srgbClr val="B9BF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1081" y="3936730"/>
            <a:ext cx="6340740" cy="51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8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2680" dirty="0"/>
          </a:p>
        </p:txBody>
      </p:sp>
      <p:sp>
        <p:nvSpPr>
          <p:cNvPr id="22" name="Shape 20"/>
          <p:cNvSpPr/>
          <p:nvPr/>
        </p:nvSpPr>
        <p:spPr>
          <a:xfrm>
            <a:off x="8191081" y="4549321"/>
            <a:ext cx="5036858" cy="204197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2689">
            <a:solidFill>
              <a:srgbClr val="2B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3770" y="4572010"/>
            <a:ext cx="2994888" cy="158820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73030" y="3914042"/>
            <a:ext cx="1904421" cy="862165"/>
          </a:xfrm>
          <a:prstGeom prst="roundRect">
            <a:avLst>
              <a:gd name="adj" fmla="val 21053"/>
            </a:avLst>
          </a:prstGeom>
          <a:solidFill>
            <a:srgbClr val="BCD6F2"/>
          </a:solidFill>
          <a:ln w="45377">
            <a:solidFill>
              <a:srgbClr val="2B2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6047" y="4140927"/>
            <a:ext cx="1254587" cy="44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Continue</a:t>
            </a:r>
            <a:endParaRPr lang="en-US" sz="2322" dirty="0"/>
          </a:p>
        </p:txBody>
      </p:sp>
      <p:sp>
        <p:nvSpPr>
          <p:cNvPr id="26" name="Shape 24"/>
          <p:cNvSpPr/>
          <p:nvPr/>
        </p:nvSpPr>
        <p:spPr>
          <a:xfrm>
            <a:off x="6285243" y="5456863"/>
            <a:ext cx="10255225" cy="1678952"/>
          </a:xfrm>
          <a:prstGeom prst="roundRect">
            <a:avLst>
              <a:gd name="adj" fmla="val 13514"/>
            </a:avLst>
          </a:prstGeom>
          <a:ln w="45377">
            <a:solidFill>
              <a:srgbClr val="2B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48259" y="5774503"/>
            <a:ext cx="1225182" cy="1043674"/>
          </a:xfrm>
          <a:prstGeom prst="roundRect">
            <a:avLst>
              <a:gd name="adj" fmla="val 13043"/>
            </a:avLst>
          </a:prstGeom>
          <a:solidFill>
            <a:srgbClr val="E6E9F0"/>
          </a:solidFill>
          <a:ln w="22689">
            <a:solidFill>
              <a:srgbClr val="B9BF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1081" y="5887945"/>
            <a:ext cx="6340740" cy="51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8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2680" dirty="0"/>
          </a:p>
        </p:txBody>
      </p:sp>
      <p:sp>
        <p:nvSpPr>
          <p:cNvPr id="29" name="Shape 27"/>
          <p:cNvSpPr/>
          <p:nvPr/>
        </p:nvSpPr>
        <p:spPr>
          <a:xfrm>
            <a:off x="8191081" y="6500536"/>
            <a:ext cx="5036858" cy="204197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2689">
            <a:solidFill>
              <a:srgbClr val="2B2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3770" y="6523225"/>
            <a:ext cx="1247870" cy="158819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4273030" y="5865257"/>
            <a:ext cx="1904421" cy="862165"/>
          </a:xfrm>
          <a:prstGeom prst="roundRect">
            <a:avLst>
              <a:gd name="adj" fmla="val 21053"/>
            </a:avLst>
          </a:prstGeom>
          <a:solidFill>
            <a:srgbClr val="BCD6F2"/>
          </a:solidFill>
          <a:ln w="45377">
            <a:solidFill>
              <a:srgbClr val="2B2B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6047" y="6092143"/>
            <a:ext cx="1254587" cy="44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Continue</a:t>
            </a:r>
            <a:endParaRPr lang="en-US" sz="2322" dirty="0"/>
          </a:p>
        </p:txBody>
      </p:sp>
      <p:sp>
        <p:nvSpPr>
          <p:cNvPr id="33" name="Shape 31"/>
          <p:cNvSpPr/>
          <p:nvPr/>
        </p:nvSpPr>
        <p:spPr>
          <a:xfrm>
            <a:off x="6285243" y="7408078"/>
            <a:ext cx="10255225" cy="1678953"/>
          </a:xfrm>
          <a:prstGeom prst="roundRect">
            <a:avLst>
              <a:gd name="adj" fmla="val 13514"/>
            </a:avLst>
          </a:prstGeom>
          <a:ln w="45377">
            <a:solidFill>
              <a:srgbClr val="2B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8259" y="7725718"/>
            <a:ext cx="1225182" cy="1043674"/>
          </a:xfrm>
          <a:prstGeom prst="roundRect">
            <a:avLst>
              <a:gd name="adj" fmla="val 13043"/>
            </a:avLst>
          </a:prstGeom>
          <a:solidFill>
            <a:srgbClr val="E6E9F0"/>
          </a:solidFill>
          <a:ln w="22689">
            <a:solidFill>
              <a:srgbClr val="B9BF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1081" y="7839160"/>
            <a:ext cx="6340740" cy="51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8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Spanish A1</a:t>
            </a:r>
            <a:endParaRPr lang="en-US" sz="2680" dirty="0"/>
          </a:p>
        </p:txBody>
      </p:sp>
      <p:sp>
        <p:nvSpPr>
          <p:cNvPr id="36" name="Shape 34"/>
          <p:cNvSpPr/>
          <p:nvPr/>
        </p:nvSpPr>
        <p:spPr>
          <a:xfrm>
            <a:off x="8191081" y="8451752"/>
            <a:ext cx="5036858" cy="204197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2689">
            <a:solidFill>
              <a:srgbClr val="2B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3770" y="8474440"/>
            <a:ext cx="4492333" cy="158820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38" name="Shape 36"/>
          <p:cNvSpPr/>
          <p:nvPr/>
        </p:nvSpPr>
        <p:spPr>
          <a:xfrm>
            <a:off x="14273030" y="7816472"/>
            <a:ext cx="1904421" cy="862165"/>
          </a:xfrm>
          <a:prstGeom prst="roundRect">
            <a:avLst>
              <a:gd name="adj" fmla="val 21053"/>
            </a:avLst>
          </a:prstGeom>
          <a:solidFill>
            <a:srgbClr val="BCD6F2"/>
          </a:solidFill>
          <a:ln w="45377">
            <a:solidFill>
              <a:srgbClr val="2B2B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6047" y="8043358"/>
            <a:ext cx="1254587" cy="44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Continue</a:t>
            </a:r>
            <a:endParaRPr lang="en-US" sz="232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821108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 homepage + course proposal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2774137" y="1486738"/>
            <a:ext cx="12739725" cy="8189823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32499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06636" y="1519238"/>
            <a:ext cx="12674726" cy="974979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7" name="Shape 5"/>
          <p:cNvSpPr/>
          <p:nvPr/>
        </p:nvSpPr>
        <p:spPr>
          <a:xfrm>
            <a:off x="2806636" y="2461717"/>
            <a:ext cx="12674726" cy="32499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3131629" y="1768568"/>
            <a:ext cx="515927" cy="459814"/>
          </a:xfrm>
          <a:prstGeom prst="roundRect">
            <a:avLst>
              <a:gd name="adj" fmla="val 24738"/>
            </a:avLst>
          </a:prstGeom>
          <a:solidFill>
            <a:srgbClr val="BCD6F2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1626" y="1801068"/>
            <a:ext cx="307525" cy="432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0"/>
              </a:lnSpc>
              <a:buNone/>
            </a:pPr>
            <a:r>
              <a:rPr lang="en-US" sz="2303" b="1" spc="-512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2303" dirty="0"/>
          </a:p>
        </p:txBody>
      </p:sp>
      <p:sp>
        <p:nvSpPr>
          <p:cNvPr id="10" name="Text 8"/>
          <p:cNvSpPr/>
          <p:nvPr/>
        </p:nvSpPr>
        <p:spPr>
          <a:xfrm>
            <a:off x="3761303" y="1795228"/>
            <a:ext cx="2084555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303" dirty="0"/>
          </a:p>
        </p:txBody>
      </p:sp>
      <p:sp>
        <p:nvSpPr>
          <p:cNvPr id="11" name="Shape 9"/>
          <p:cNvSpPr/>
          <p:nvPr/>
        </p:nvSpPr>
        <p:spPr>
          <a:xfrm>
            <a:off x="10750176" y="2136724"/>
            <a:ext cx="1217707" cy="32499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750176" y="1811731"/>
            <a:ext cx="1339478" cy="363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1791" dirty="0"/>
          </a:p>
        </p:txBody>
      </p:sp>
      <p:sp>
        <p:nvSpPr>
          <p:cNvPr id="13" name="Text 11"/>
          <p:cNvSpPr/>
          <p:nvPr/>
        </p:nvSpPr>
        <p:spPr>
          <a:xfrm>
            <a:off x="12227879" y="1811731"/>
            <a:ext cx="916611" cy="39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Students</a:t>
            </a:r>
            <a:endParaRPr lang="en-US" sz="1791" dirty="0"/>
          </a:p>
        </p:txBody>
      </p:sp>
      <p:sp>
        <p:nvSpPr>
          <p:cNvPr id="14" name="Shape 12"/>
          <p:cNvSpPr/>
          <p:nvPr/>
        </p:nvSpPr>
        <p:spPr>
          <a:xfrm>
            <a:off x="13328284" y="1811731"/>
            <a:ext cx="1015603" cy="357492"/>
          </a:xfrm>
          <a:prstGeom prst="roundRect">
            <a:avLst>
              <a:gd name="adj" fmla="val 50000"/>
            </a:avLst>
          </a:prstGeom>
          <a:solidFill>
            <a:srgbClr val="C7E8D6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23280" y="1892980"/>
            <a:ext cx="701812" cy="233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9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279" dirty="0"/>
          </a:p>
        </p:txBody>
      </p:sp>
      <p:sp>
        <p:nvSpPr>
          <p:cNvPr id="16" name="Shape 14"/>
          <p:cNvSpPr/>
          <p:nvPr/>
        </p:nvSpPr>
        <p:spPr>
          <a:xfrm>
            <a:off x="14603883" y="1714233"/>
            <a:ext cx="552487" cy="552488"/>
          </a:xfrm>
          <a:prstGeom prst="ellipse">
            <a:avLst/>
          </a:prstGeom>
          <a:solidFill>
            <a:srgbClr val="D6EFE0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6628" y="2957332"/>
            <a:ext cx="1722386" cy="44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2303" dirty="0"/>
          </a:p>
        </p:txBody>
      </p:sp>
      <p:sp>
        <p:nvSpPr>
          <p:cNvPr id="18" name="Shape 16"/>
          <p:cNvSpPr/>
          <p:nvPr/>
        </p:nvSpPr>
        <p:spPr>
          <a:xfrm>
            <a:off x="6210176" y="2851709"/>
            <a:ext cx="2706328" cy="617487"/>
          </a:xfrm>
          <a:prstGeom prst="roundRect">
            <a:avLst>
              <a:gd name="adj" fmla="val 21053"/>
            </a:avLst>
          </a:prstGeom>
          <a:solidFill>
            <a:srgbClr val="C7E8D6"/>
          </a:solidFill>
          <a:ln w="32499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26941" dir="2700000">
              <a:srgbClr val="2B2B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0171" y="3014206"/>
            <a:ext cx="2267529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＋ Propose new course</a:t>
            </a:r>
            <a:endParaRPr lang="en-US" sz="1663" dirty="0"/>
          </a:p>
        </p:txBody>
      </p:sp>
      <p:sp>
        <p:nvSpPr>
          <p:cNvPr id="20" name="Shape 18"/>
          <p:cNvSpPr/>
          <p:nvPr/>
        </p:nvSpPr>
        <p:spPr>
          <a:xfrm>
            <a:off x="3196628" y="3696691"/>
            <a:ext cx="5719876" cy="1039978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4123" y="3891686"/>
            <a:ext cx="747484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6603" y="3940435"/>
            <a:ext cx="3376068" cy="34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1791" dirty="0"/>
          </a:p>
        </p:txBody>
      </p:sp>
      <p:sp>
        <p:nvSpPr>
          <p:cNvPr id="23" name="Text 21"/>
          <p:cNvSpPr/>
          <p:nvPr/>
        </p:nvSpPr>
        <p:spPr>
          <a:xfrm>
            <a:off x="4366603" y="4249179"/>
            <a:ext cx="3376068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students</a:t>
            </a:r>
            <a:endParaRPr lang="en-US" sz="1407" dirty="0"/>
          </a:p>
        </p:txBody>
      </p:sp>
      <p:sp>
        <p:nvSpPr>
          <p:cNvPr id="24" name="Shape 22"/>
          <p:cNvSpPr/>
          <p:nvPr/>
        </p:nvSpPr>
        <p:spPr>
          <a:xfrm>
            <a:off x="7630751" y="3989184"/>
            <a:ext cx="1058259" cy="454990"/>
          </a:xfrm>
          <a:prstGeom prst="roundRect">
            <a:avLst>
              <a:gd name="adj" fmla="val 21429"/>
            </a:avLst>
          </a:prstGeom>
          <a:ln w="16250">
            <a:solidFill>
              <a:srgbClr val="2B2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9497" y="4086682"/>
            <a:ext cx="776966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535" dirty="0"/>
          </a:p>
        </p:txBody>
      </p:sp>
      <p:sp>
        <p:nvSpPr>
          <p:cNvPr id="26" name="Shape 24"/>
          <p:cNvSpPr/>
          <p:nvPr/>
        </p:nvSpPr>
        <p:spPr>
          <a:xfrm>
            <a:off x="3196628" y="4899165"/>
            <a:ext cx="5719876" cy="1039977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4123" y="5094161"/>
            <a:ext cx="747484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6603" y="5142909"/>
            <a:ext cx="3376068" cy="346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Viz 101</a:t>
            </a:r>
            <a:endParaRPr lang="en-US" sz="1791" dirty="0"/>
          </a:p>
        </p:txBody>
      </p:sp>
      <p:sp>
        <p:nvSpPr>
          <p:cNvPr id="29" name="Text 27"/>
          <p:cNvSpPr/>
          <p:nvPr/>
        </p:nvSpPr>
        <p:spPr>
          <a:xfrm>
            <a:off x="4366603" y="5451653"/>
            <a:ext cx="3376068" cy="281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students</a:t>
            </a:r>
            <a:endParaRPr lang="en-US" sz="1407" dirty="0"/>
          </a:p>
        </p:txBody>
      </p:sp>
      <p:sp>
        <p:nvSpPr>
          <p:cNvPr id="30" name="Shape 28"/>
          <p:cNvSpPr/>
          <p:nvPr/>
        </p:nvSpPr>
        <p:spPr>
          <a:xfrm>
            <a:off x="7630751" y="5191659"/>
            <a:ext cx="1058259" cy="454990"/>
          </a:xfrm>
          <a:prstGeom prst="roundRect">
            <a:avLst>
              <a:gd name="adj" fmla="val 21429"/>
            </a:avLst>
          </a:prstGeom>
          <a:ln w="16250">
            <a:solidFill>
              <a:srgbClr val="2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9497" y="5289157"/>
            <a:ext cx="776966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535" dirty="0"/>
          </a:p>
        </p:txBody>
      </p:sp>
      <p:sp>
        <p:nvSpPr>
          <p:cNvPr id="32" name="Text 30"/>
          <p:cNvSpPr/>
          <p:nvPr/>
        </p:nvSpPr>
        <p:spPr>
          <a:xfrm>
            <a:off x="3196628" y="6264135"/>
            <a:ext cx="6291864" cy="411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4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Proposals</a:t>
            </a:r>
            <a:endParaRPr lang="en-US" sz="2047" dirty="0"/>
          </a:p>
        </p:txBody>
      </p:sp>
      <p:sp>
        <p:nvSpPr>
          <p:cNvPr id="33" name="Shape 31"/>
          <p:cNvSpPr/>
          <p:nvPr/>
        </p:nvSpPr>
        <p:spPr>
          <a:xfrm>
            <a:off x="3196628" y="6800374"/>
            <a:ext cx="5719876" cy="633736"/>
          </a:xfrm>
          <a:prstGeom prst="roundRect">
            <a:avLst>
              <a:gd name="adj" fmla="val 20513"/>
            </a:avLst>
          </a:prstGeom>
          <a:ln w="16250">
            <a:solidFill>
              <a:srgbClr val="B9BF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7873" y="6946621"/>
            <a:ext cx="2792225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Machine Learning Foundations</a:t>
            </a:r>
            <a:endParaRPr lang="en-US" sz="1663" dirty="0"/>
          </a:p>
        </p:txBody>
      </p:sp>
      <p:sp>
        <p:nvSpPr>
          <p:cNvPr id="35" name="Shape 33"/>
          <p:cNvSpPr/>
          <p:nvPr/>
        </p:nvSpPr>
        <p:spPr>
          <a:xfrm>
            <a:off x="7754655" y="6970995"/>
            <a:ext cx="950605" cy="292494"/>
          </a:xfrm>
          <a:prstGeom prst="roundRect">
            <a:avLst>
              <a:gd name="adj" fmla="val 50000"/>
            </a:avLst>
          </a:prstGeom>
          <a:solidFill>
            <a:srgbClr val="FBF3D9"/>
          </a:solidFill>
          <a:ln w="1625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17151" y="7019744"/>
            <a:ext cx="701812" cy="233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9" b="1" dirty="0">
                <a:solidFill>
                  <a:srgbClr val="8A6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279" dirty="0"/>
          </a:p>
        </p:txBody>
      </p:sp>
      <p:sp>
        <p:nvSpPr>
          <p:cNvPr id="37" name="Shape 35"/>
          <p:cNvSpPr/>
          <p:nvPr/>
        </p:nvSpPr>
        <p:spPr>
          <a:xfrm>
            <a:off x="3196628" y="7564107"/>
            <a:ext cx="5719876" cy="633736"/>
          </a:xfrm>
          <a:prstGeom prst="roundRect">
            <a:avLst>
              <a:gd name="adj" fmla="val 20513"/>
            </a:avLst>
          </a:prstGeom>
          <a:ln w="16250">
            <a:solidFill>
              <a:srgbClr val="B9BF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7873" y="7710354"/>
            <a:ext cx="1155786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Viz 101</a:t>
            </a:r>
            <a:endParaRPr lang="en-US" sz="1663" dirty="0"/>
          </a:p>
        </p:txBody>
      </p:sp>
      <p:sp>
        <p:nvSpPr>
          <p:cNvPr id="39" name="Shape 37"/>
          <p:cNvSpPr/>
          <p:nvPr/>
        </p:nvSpPr>
        <p:spPr>
          <a:xfrm>
            <a:off x="7665536" y="7734728"/>
            <a:ext cx="1039724" cy="292494"/>
          </a:xfrm>
          <a:prstGeom prst="roundRect">
            <a:avLst>
              <a:gd name="adj" fmla="val 50000"/>
            </a:avLst>
          </a:prstGeom>
          <a:solidFill>
            <a:srgbClr val="EEF7F1"/>
          </a:solidFill>
          <a:ln w="16250">
            <a:solidFill>
              <a:srgbClr val="2B8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8032" y="7783477"/>
            <a:ext cx="790931" cy="233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9" b="1" dirty="0">
                <a:solidFill>
                  <a:srgbClr val="2B6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279" dirty="0"/>
          </a:p>
        </p:txBody>
      </p:sp>
      <p:sp>
        <p:nvSpPr>
          <p:cNvPr id="41" name="Shape 39"/>
          <p:cNvSpPr/>
          <p:nvPr/>
        </p:nvSpPr>
        <p:spPr>
          <a:xfrm>
            <a:off x="3196628" y="8327841"/>
            <a:ext cx="5719876" cy="633736"/>
          </a:xfrm>
          <a:prstGeom prst="roundRect">
            <a:avLst>
              <a:gd name="adj" fmla="val 20513"/>
            </a:avLst>
          </a:prstGeom>
          <a:ln w="16250">
            <a:solidFill>
              <a:srgbClr val="B9BF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7873" y="8474088"/>
            <a:ext cx="1952273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Advanced Calligraphy</a:t>
            </a:r>
            <a:endParaRPr lang="en-US" sz="1663" dirty="0"/>
          </a:p>
        </p:txBody>
      </p:sp>
      <p:sp>
        <p:nvSpPr>
          <p:cNvPr id="43" name="Shape 41"/>
          <p:cNvSpPr/>
          <p:nvPr/>
        </p:nvSpPr>
        <p:spPr>
          <a:xfrm>
            <a:off x="7665536" y="8498462"/>
            <a:ext cx="1039724" cy="292494"/>
          </a:xfrm>
          <a:prstGeom prst="roundRect">
            <a:avLst>
              <a:gd name="adj" fmla="val 50000"/>
            </a:avLst>
          </a:prstGeom>
          <a:solidFill>
            <a:srgbClr val="F8E9E9"/>
          </a:solidFill>
          <a:ln w="16250">
            <a:solidFill>
              <a:srgbClr val="A03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8032" y="8547211"/>
            <a:ext cx="790931" cy="233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9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279" dirty="0"/>
          </a:p>
        </p:txBody>
      </p:sp>
      <p:sp>
        <p:nvSpPr>
          <p:cNvPr id="45" name="Shape 43"/>
          <p:cNvSpPr/>
          <p:nvPr/>
        </p:nvSpPr>
        <p:spPr>
          <a:xfrm>
            <a:off x="9241498" y="2851709"/>
            <a:ext cx="5849874" cy="6369862"/>
          </a:xfrm>
          <a:prstGeom prst="roundRect">
            <a:avLst>
              <a:gd name="adj" fmla="val 3333"/>
            </a:avLst>
          </a:prstGeom>
          <a:solidFill>
            <a:srgbClr val="F4FAF6"/>
          </a:solidFill>
          <a:ln w="32499">
            <a:solidFill>
              <a:srgbClr val="2B8A5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9566490" y="3144203"/>
            <a:ext cx="2567521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New course proposal</a:t>
            </a:r>
            <a:endParaRPr lang="en-US" sz="1919" dirty="0"/>
          </a:p>
        </p:txBody>
      </p:sp>
      <p:sp>
        <p:nvSpPr>
          <p:cNvPr id="47" name="Text 45"/>
          <p:cNvSpPr/>
          <p:nvPr/>
        </p:nvSpPr>
        <p:spPr>
          <a:xfrm>
            <a:off x="9566490" y="3712940"/>
            <a:ext cx="5719876" cy="29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title</a:t>
            </a:r>
            <a:endParaRPr lang="en-US" sz="1535" dirty="0"/>
          </a:p>
        </p:txBody>
      </p:sp>
      <p:sp>
        <p:nvSpPr>
          <p:cNvPr id="48" name="Shape 46"/>
          <p:cNvSpPr/>
          <p:nvPr/>
        </p:nvSpPr>
        <p:spPr>
          <a:xfrm>
            <a:off x="9566490" y="4054183"/>
            <a:ext cx="5199887" cy="601237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45237" y="4216680"/>
            <a:ext cx="4998392" cy="314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Machine Learning Foundations</a:t>
            </a:r>
            <a:endParaRPr lang="en-US" sz="1663" dirty="0"/>
          </a:p>
        </p:txBody>
      </p:sp>
      <p:sp>
        <p:nvSpPr>
          <p:cNvPr id="50" name="Text 48"/>
          <p:cNvSpPr/>
          <p:nvPr/>
        </p:nvSpPr>
        <p:spPr>
          <a:xfrm>
            <a:off x="9566490" y="4850416"/>
            <a:ext cx="3825167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535" dirty="0"/>
          </a:p>
        </p:txBody>
      </p:sp>
      <p:sp>
        <p:nvSpPr>
          <p:cNvPr id="51" name="Shape 49"/>
          <p:cNvSpPr/>
          <p:nvPr/>
        </p:nvSpPr>
        <p:spPr>
          <a:xfrm>
            <a:off x="9566490" y="5191659"/>
            <a:ext cx="3477425" cy="617487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45237" y="5354155"/>
            <a:ext cx="3224255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▾</a:t>
            </a:r>
            <a:endParaRPr lang="en-US" sz="1663" dirty="0"/>
          </a:p>
        </p:txBody>
      </p:sp>
      <p:sp>
        <p:nvSpPr>
          <p:cNvPr id="53" name="Text 51"/>
          <p:cNvSpPr/>
          <p:nvPr/>
        </p:nvSpPr>
        <p:spPr>
          <a:xfrm>
            <a:off x="13206413" y="4850416"/>
            <a:ext cx="1715962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535" dirty="0"/>
          </a:p>
        </p:txBody>
      </p:sp>
      <p:sp>
        <p:nvSpPr>
          <p:cNvPr id="54" name="Shape 52"/>
          <p:cNvSpPr/>
          <p:nvPr/>
        </p:nvSpPr>
        <p:spPr>
          <a:xfrm>
            <a:off x="13206413" y="5191659"/>
            <a:ext cx="1559965" cy="601237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385159" y="5354155"/>
            <a:ext cx="1278673" cy="314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63" dirty="0"/>
          </a:p>
        </p:txBody>
      </p:sp>
      <p:sp>
        <p:nvSpPr>
          <p:cNvPr id="56" name="Text 54"/>
          <p:cNvSpPr/>
          <p:nvPr/>
        </p:nvSpPr>
        <p:spPr>
          <a:xfrm>
            <a:off x="9566490" y="6004141"/>
            <a:ext cx="5719876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b="1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535" dirty="0"/>
          </a:p>
        </p:txBody>
      </p:sp>
      <p:sp>
        <p:nvSpPr>
          <p:cNvPr id="57" name="Shape 55"/>
          <p:cNvSpPr/>
          <p:nvPr/>
        </p:nvSpPr>
        <p:spPr>
          <a:xfrm>
            <a:off x="9566490" y="6345384"/>
            <a:ext cx="5199887" cy="1234973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45237" y="6507880"/>
            <a:ext cx="4998392" cy="94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course covers…</a:t>
            </a:r>
            <a:endParaRPr lang="en-US" sz="1663" dirty="0"/>
          </a:p>
        </p:txBody>
      </p:sp>
      <p:sp>
        <p:nvSpPr>
          <p:cNvPr id="59" name="Shape 57"/>
          <p:cNvSpPr/>
          <p:nvPr/>
        </p:nvSpPr>
        <p:spPr>
          <a:xfrm>
            <a:off x="9566490" y="7807852"/>
            <a:ext cx="5199887" cy="731234"/>
          </a:xfrm>
          <a:prstGeom prst="roundRect">
            <a:avLst>
              <a:gd name="adj" fmla="val 20000"/>
            </a:avLst>
          </a:prstGeom>
          <a:solidFill>
            <a:srgbClr val="C7E8D6"/>
          </a:solidFill>
          <a:ln w="32499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40411" dir="2700000">
              <a:srgbClr val="2B2B33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699738" y="8019097"/>
            <a:ext cx="4933393" cy="346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Submit for approval →</a:t>
            </a:r>
            <a:endParaRPr lang="en-US" sz="1791" dirty="0"/>
          </a:p>
        </p:txBody>
      </p:sp>
      <p:sp>
        <p:nvSpPr>
          <p:cNvPr id="61" name="Text 59"/>
          <p:cNvSpPr/>
          <p:nvPr/>
        </p:nvSpPr>
        <p:spPr>
          <a:xfrm>
            <a:off x="9306496" y="8685333"/>
            <a:ext cx="5719876" cy="281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07" dirty="0">
                <a:solidFill>
                  <a:srgbClr val="2B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admin approval queue — see </a:t>
            </a:r>
            <a:pPr algn="ctr" indent="0" marL="0">
              <a:buNone/>
            </a:pPr>
            <a:r>
              <a:rPr lang="en-US" sz="1407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140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994232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Admin homepage — approvals + edit / delete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2774137" y="1486738"/>
            <a:ext cx="12739725" cy="8189823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32499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06636" y="1519238"/>
            <a:ext cx="12674726" cy="974979"/>
          </a:xfrm>
          <a:prstGeom prst="rect">
            <a:avLst/>
          </a:prstGeom>
          <a:solidFill>
            <a:srgbClr val="F8F6FC"/>
          </a:solidFill>
          <a:ln/>
        </p:spPr>
      </p:sp>
      <p:sp>
        <p:nvSpPr>
          <p:cNvPr id="7" name="Shape 5"/>
          <p:cNvSpPr/>
          <p:nvPr/>
        </p:nvSpPr>
        <p:spPr>
          <a:xfrm>
            <a:off x="2806636" y="2461717"/>
            <a:ext cx="12674726" cy="32499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3131629" y="1768568"/>
            <a:ext cx="515927" cy="459814"/>
          </a:xfrm>
          <a:prstGeom prst="roundRect">
            <a:avLst>
              <a:gd name="adj" fmla="val 24738"/>
            </a:avLst>
          </a:prstGeom>
          <a:solidFill>
            <a:srgbClr val="BCD6F2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1626" y="1801068"/>
            <a:ext cx="307525" cy="432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0"/>
              </a:lnSpc>
              <a:buNone/>
            </a:pPr>
            <a:r>
              <a:rPr lang="en-US" sz="2303" b="1" spc="-512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2303" dirty="0"/>
          </a:p>
        </p:txBody>
      </p:sp>
      <p:sp>
        <p:nvSpPr>
          <p:cNvPr id="10" name="Text 8"/>
          <p:cNvSpPr/>
          <p:nvPr/>
        </p:nvSpPr>
        <p:spPr>
          <a:xfrm>
            <a:off x="3761303" y="1795228"/>
            <a:ext cx="2084555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303" dirty="0"/>
          </a:p>
        </p:txBody>
      </p:sp>
      <p:sp>
        <p:nvSpPr>
          <p:cNvPr id="11" name="Shape 9"/>
          <p:cNvSpPr/>
          <p:nvPr/>
        </p:nvSpPr>
        <p:spPr>
          <a:xfrm>
            <a:off x="10560258" y="2136724"/>
            <a:ext cx="830510" cy="32499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0258" y="1811731"/>
            <a:ext cx="906710" cy="363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Courses</a:t>
            </a:r>
            <a:endParaRPr lang="en-US" sz="1791" dirty="0"/>
          </a:p>
        </p:txBody>
      </p:sp>
      <p:sp>
        <p:nvSpPr>
          <p:cNvPr id="13" name="Text 11"/>
          <p:cNvSpPr/>
          <p:nvPr/>
        </p:nvSpPr>
        <p:spPr>
          <a:xfrm>
            <a:off x="11650762" y="1811731"/>
            <a:ext cx="904932" cy="39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Teachers</a:t>
            </a:r>
            <a:endParaRPr lang="en-US" sz="1791" dirty="0"/>
          </a:p>
        </p:txBody>
      </p:sp>
      <p:sp>
        <p:nvSpPr>
          <p:cNvPr id="14" name="Text 12"/>
          <p:cNvSpPr/>
          <p:nvPr/>
        </p:nvSpPr>
        <p:spPr>
          <a:xfrm>
            <a:off x="12739488" y="1811731"/>
            <a:ext cx="583748" cy="39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Users</a:t>
            </a:r>
            <a:endParaRPr lang="en-US" sz="1791" dirty="0"/>
          </a:p>
        </p:txBody>
      </p:sp>
      <p:sp>
        <p:nvSpPr>
          <p:cNvPr id="15" name="Shape 13"/>
          <p:cNvSpPr/>
          <p:nvPr/>
        </p:nvSpPr>
        <p:spPr>
          <a:xfrm>
            <a:off x="13507031" y="1811731"/>
            <a:ext cx="836856" cy="357492"/>
          </a:xfrm>
          <a:prstGeom prst="roundRect">
            <a:avLst>
              <a:gd name="adj" fmla="val 50000"/>
            </a:avLst>
          </a:prstGeom>
          <a:solidFill>
            <a:srgbClr val="DCD2F2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02027" y="1892980"/>
            <a:ext cx="523064" cy="233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9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279" dirty="0"/>
          </a:p>
        </p:txBody>
      </p:sp>
      <p:sp>
        <p:nvSpPr>
          <p:cNvPr id="17" name="Shape 15"/>
          <p:cNvSpPr/>
          <p:nvPr/>
        </p:nvSpPr>
        <p:spPr>
          <a:xfrm>
            <a:off x="14603883" y="1714233"/>
            <a:ext cx="552487" cy="552488"/>
          </a:xfrm>
          <a:prstGeom prst="ellipse">
            <a:avLst/>
          </a:prstGeom>
          <a:solidFill>
            <a:srgbClr val="E5DDF5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6628" y="2851709"/>
            <a:ext cx="2664993" cy="44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Waiting approvals</a:t>
            </a:r>
            <a:endParaRPr lang="en-US" sz="2303" dirty="0"/>
          </a:p>
        </p:txBody>
      </p:sp>
      <p:sp>
        <p:nvSpPr>
          <p:cNvPr id="19" name="Shape 17"/>
          <p:cNvSpPr/>
          <p:nvPr/>
        </p:nvSpPr>
        <p:spPr>
          <a:xfrm>
            <a:off x="5749347" y="2900458"/>
            <a:ext cx="456005" cy="308743"/>
          </a:xfrm>
          <a:prstGeom prst="roundRect">
            <a:avLst>
              <a:gd name="adj" fmla="val 50000"/>
            </a:avLst>
          </a:prstGeom>
          <a:solidFill>
            <a:srgbClr val="FBF3D9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8093" y="2949207"/>
            <a:ext cx="174713" cy="249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b="1" dirty="0">
                <a:solidFill>
                  <a:srgbClr val="8A6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7" dirty="0"/>
          </a:p>
        </p:txBody>
      </p:sp>
      <p:sp>
        <p:nvSpPr>
          <p:cNvPr id="21" name="Shape 19"/>
          <p:cNvSpPr/>
          <p:nvPr/>
        </p:nvSpPr>
        <p:spPr>
          <a:xfrm>
            <a:off x="3196628" y="3452946"/>
            <a:ext cx="11894744" cy="1169975"/>
          </a:xfrm>
          <a:prstGeom prst="roundRect">
            <a:avLst>
              <a:gd name="adj" fmla="val 13889"/>
            </a:avLst>
          </a:prstGeom>
          <a:solidFill>
            <a:srgbClr val="FAF8FE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6622" y="3680441"/>
            <a:ext cx="812482" cy="714985"/>
          </a:xfrm>
          <a:prstGeom prst="roundRect">
            <a:avLst>
              <a:gd name="adj" fmla="val 13636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6600" y="3745440"/>
            <a:ext cx="6305549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Machine Learning Foundations</a:t>
            </a:r>
            <a:endParaRPr lang="en-US" sz="1919" dirty="0"/>
          </a:p>
        </p:txBody>
      </p:sp>
      <p:sp>
        <p:nvSpPr>
          <p:cNvPr id="24" name="Text 22"/>
          <p:cNvSpPr/>
          <p:nvPr/>
        </p:nvSpPr>
        <p:spPr>
          <a:xfrm>
            <a:off x="4496600" y="4086682"/>
            <a:ext cx="6305549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by M. Chen · Computer Science · 8 weeks</a:t>
            </a:r>
            <a:endParaRPr lang="en-US" sz="1471" dirty="0"/>
          </a:p>
        </p:txBody>
      </p:sp>
      <p:sp>
        <p:nvSpPr>
          <p:cNvPr id="25" name="Shape 23"/>
          <p:cNvSpPr/>
          <p:nvPr/>
        </p:nvSpPr>
        <p:spPr>
          <a:xfrm>
            <a:off x="10456413" y="3794189"/>
            <a:ext cx="953905" cy="487489"/>
          </a:xfrm>
          <a:prstGeom prst="roundRect">
            <a:avLst>
              <a:gd name="adj" fmla="val 23333"/>
            </a:avLst>
          </a:prstGeom>
          <a:ln w="16250">
            <a:solidFill>
              <a:srgbClr val="2B2B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35159" y="3907936"/>
            <a:ext cx="672612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35" dirty="0"/>
          </a:p>
        </p:txBody>
      </p:sp>
      <p:sp>
        <p:nvSpPr>
          <p:cNvPr id="27" name="Shape 25"/>
          <p:cNvSpPr/>
          <p:nvPr/>
        </p:nvSpPr>
        <p:spPr>
          <a:xfrm>
            <a:off x="11637813" y="3745440"/>
            <a:ext cx="1552856" cy="584987"/>
          </a:xfrm>
          <a:prstGeom prst="roundRect">
            <a:avLst>
              <a:gd name="adj" fmla="val 19444"/>
            </a:avLst>
          </a:prstGeom>
          <a:solidFill>
            <a:srgbClr val="C7E8D6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97807" y="3891687"/>
            <a:ext cx="1109068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✓ Approve</a:t>
            </a:r>
            <a:endParaRPr lang="en-US" sz="1663" dirty="0"/>
          </a:p>
        </p:txBody>
      </p:sp>
      <p:sp>
        <p:nvSpPr>
          <p:cNvPr id="29" name="Shape 27"/>
          <p:cNvSpPr/>
          <p:nvPr/>
        </p:nvSpPr>
        <p:spPr>
          <a:xfrm>
            <a:off x="13418165" y="3745440"/>
            <a:ext cx="1413211" cy="584987"/>
          </a:xfrm>
          <a:prstGeom prst="roundRect">
            <a:avLst>
              <a:gd name="adj" fmla="val 19444"/>
            </a:avLst>
          </a:prstGeom>
          <a:solidFill>
            <a:srgbClr val="F2C9C9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78159" y="3891687"/>
            <a:ext cx="969423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✕ Reject</a:t>
            </a:r>
            <a:endParaRPr lang="en-US" sz="1663" dirty="0"/>
          </a:p>
        </p:txBody>
      </p:sp>
      <p:sp>
        <p:nvSpPr>
          <p:cNvPr id="31" name="Shape 29"/>
          <p:cNvSpPr/>
          <p:nvPr/>
        </p:nvSpPr>
        <p:spPr>
          <a:xfrm>
            <a:off x="3196628" y="4785417"/>
            <a:ext cx="11894744" cy="1169975"/>
          </a:xfrm>
          <a:prstGeom prst="roundRect">
            <a:avLst>
              <a:gd name="adj" fmla="val 13889"/>
            </a:avLst>
          </a:prstGeom>
          <a:solidFill>
            <a:srgbClr val="FAF8FE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6622" y="5012913"/>
            <a:ext cx="812482" cy="714984"/>
          </a:xfrm>
          <a:prstGeom prst="roundRect">
            <a:avLst>
              <a:gd name="adj" fmla="val 13636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6600" y="5077911"/>
            <a:ext cx="6305549" cy="37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1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Creative Writing Workshop</a:t>
            </a:r>
            <a:endParaRPr lang="en-US" sz="1919" dirty="0"/>
          </a:p>
        </p:txBody>
      </p:sp>
      <p:sp>
        <p:nvSpPr>
          <p:cNvPr id="34" name="Text 32"/>
          <p:cNvSpPr/>
          <p:nvPr/>
        </p:nvSpPr>
        <p:spPr>
          <a:xfrm>
            <a:off x="4496600" y="5419154"/>
            <a:ext cx="6305549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by R. Patel · Humanities · 6 weeks</a:t>
            </a:r>
            <a:endParaRPr lang="en-US" sz="1471" dirty="0"/>
          </a:p>
        </p:txBody>
      </p:sp>
      <p:sp>
        <p:nvSpPr>
          <p:cNvPr id="35" name="Shape 33"/>
          <p:cNvSpPr/>
          <p:nvPr/>
        </p:nvSpPr>
        <p:spPr>
          <a:xfrm>
            <a:off x="10456413" y="5126660"/>
            <a:ext cx="953905" cy="487489"/>
          </a:xfrm>
          <a:prstGeom prst="roundRect">
            <a:avLst>
              <a:gd name="adj" fmla="val 23333"/>
            </a:avLst>
          </a:prstGeom>
          <a:ln w="16250">
            <a:solidFill>
              <a:srgbClr val="2B2B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35159" y="5240407"/>
            <a:ext cx="672612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35" dirty="0"/>
          </a:p>
        </p:txBody>
      </p:sp>
      <p:sp>
        <p:nvSpPr>
          <p:cNvPr id="37" name="Shape 35"/>
          <p:cNvSpPr/>
          <p:nvPr/>
        </p:nvSpPr>
        <p:spPr>
          <a:xfrm>
            <a:off x="11637813" y="5077911"/>
            <a:ext cx="1552856" cy="584988"/>
          </a:xfrm>
          <a:prstGeom prst="roundRect">
            <a:avLst>
              <a:gd name="adj" fmla="val 19444"/>
            </a:avLst>
          </a:prstGeom>
          <a:solidFill>
            <a:srgbClr val="C7E8D6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97807" y="5224158"/>
            <a:ext cx="1109068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✓ Approve</a:t>
            </a:r>
            <a:endParaRPr lang="en-US" sz="1663" dirty="0"/>
          </a:p>
        </p:txBody>
      </p:sp>
      <p:sp>
        <p:nvSpPr>
          <p:cNvPr id="39" name="Shape 37"/>
          <p:cNvSpPr/>
          <p:nvPr/>
        </p:nvSpPr>
        <p:spPr>
          <a:xfrm>
            <a:off x="13418165" y="5077911"/>
            <a:ext cx="1413211" cy="584988"/>
          </a:xfrm>
          <a:prstGeom prst="roundRect">
            <a:avLst>
              <a:gd name="adj" fmla="val 19444"/>
            </a:avLst>
          </a:prstGeom>
          <a:solidFill>
            <a:srgbClr val="F2C9C9"/>
          </a:solidFill>
          <a:ln w="32499">
            <a:solidFill>
              <a:srgbClr val="2B2B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78159" y="5224158"/>
            <a:ext cx="969423" cy="33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✕ Reject</a:t>
            </a:r>
            <a:endParaRPr lang="en-US" sz="1663" dirty="0"/>
          </a:p>
        </p:txBody>
      </p:sp>
      <p:sp>
        <p:nvSpPr>
          <p:cNvPr id="41" name="Text 39"/>
          <p:cNvSpPr/>
          <p:nvPr/>
        </p:nvSpPr>
        <p:spPr>
          <a:xfrm>
            <a:off x="3196628" y="6345384"/>
            <a:ext cx="1653681" cy="44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 courses</a:t>
            </a:r>
            <a:endParaRPr lang="en-US" sz="2303" dirty="0"/>
          </a:p>
        </p:txBody>
      </p:sp>
      <p:sp>
        <p:nvSpPr>
          <p:cNvPr id="42" name="Shape 40"/>
          <p:cNvSpPr/>
          <p:nvPr/>
        </p:nvSpPr>
        <p:spPr>
          <a:xfrm>
            <a:off x="3196628" y="6946621"/>
            <a:ext cx="5849874" cy="1039977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4123" y="7141616"/>
            <a:ext cx="747484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66603" y="7190365"/>
            <a:ext cx="2782575" cy="34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1791" dirty="0"/>
          </a:p>
        </p:txBody>
      </p:sp>
      <p:sp>
        <p:nvSpPr>
          <p:cNvPr id="45" name="Text 43"/>
          <p:cNvSpPr/>
          <p:nvPr/>
        </p:nvSpPr>
        <p:spPr>
          <a:xfrm>
            <a:off x="4366603" y="7499109"/>
            <a:ext cx="2782575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students</a:t>
            </a:r>
            <a:endParaRPr lang="en-US" sz="1407" dirty="0"/>
          </a:p>
        </p:txBody>
      </p:sp>
      <p:sp>
        <p:nvSpPr>
          <p:cNvPr id="46" name="Shape 44"/>
          <p:cNvSpPr/>
          <p:nvPr/>
        </p:nvSpPr>
        <p:spPr>
          <a:xfrm>
            <a:off x="7091212" y="7239115"/>
            <a:ext cx="651763" cy="454990"/>
          </a:xfrm>
          <a:prstGeom prst="roundRect">
            <a:avLst>
              <a:gd name="adj" fmla="val 21429"/>
            </a:avLst>
          </a:prstGeom>
          <a:solidFill>
            <a:srgbClr val="DCD2F2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53708" y="7336612"/>
            <a:ext cx="402970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535" dirty="0"/>
          </a:p>
        </p:txBody>
      </p:sp>
      <p:sp>
        <p:nvSpPr>
          <p:cNvPr id="48" name="Shape 46"/>
          <p:cNvSpPr/>
          <p:nvPr/>
        </p:nvSpPr>
        <p:spPr>
          <a:xfrm>
            <a:off x="7937971" y="7239115"/>
            <a:ext cx="881036" cy="454990"/>
          </a:xfrm>
          <a:prstGeom prst="roundRect">
            <a:avLst>
              <a:gd name="adj" fmla="val 21429"/>
            </a:avLst>
          </a:prstGeom>
          <a:solidFill>
            <a:srgbClr val="F2C9C9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0468" y="7336612"/>
            <a:ext cx="632243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35" dirty="0"/>
          </a:p>
        </p:txBody>
      </p:sp>
      <p:sp>
        <p:nvSpPr>
          <p:cNvPr id="50" name="Shape 48"/>
          <p:cNvSpPr/>
          <p:nvPr/>
        </p:nvSpPr>
        <p:spPr>
          <a:xfrm>
            <a:off x="9241498" y="6946621"/>
            <a:ext cx="5849874" cy="1039977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68993" y="7141616"/>
            <a:ext cx="747483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11473" y="7190365"/>
            <a:ext cx="2782576" cy="34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1791" dirty="0"/>
          </a:p>
        </p:txBody>
      </p:sp>
      <p:sp>
        <p:nvSpPr>
          <p:cNvPr id="53" name="Text 51"/>
          <p:cNvSpPr/>
          <p:nvPr/>
        </p:nvSpPr>
        <p:spPr>
          <a:xfrm>
            <a:off x="10411473" y="7499109"/>
            <a:ext cx="2782576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students</a:t>
            </a:r>
            <a:endParaRPr lang="en-US" sz="1407" dirty="0"/>
          </a:p>
        </p:txBody>
      </p:sp>
      <p:sp>
        <p:nvSpPr>
          <p:cNvPr id="54" name="Shape 52"/>
          <p:cNvSpPr/>
          <p:nvPr/>
        </p:nvSpPr>
        <p:spPr>
          <a:xfrm>
            <a:off x="13136082" y="7239115"/>
            <a:ext cx="651763" cy="454990"/>
          </a:xfrm>
          <a:prstGeom prst="roundRect">
            <a:avLst>
              <a:gd name="adj" fmla="val 21429"/>
            </a:avLst>
          </a:prstGeom>
          <a:solidFill>
            <a:srgbClr val="DCD2F2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298578" y="7336612"/>
            <a:ext cx="402970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535" dirty="0"/>
          </a:p>
        </p:txBody>
      </p:sp>
      <p:sp>
        <p:nvSpPr>
          <p:cNvPr id="56" name="Shape 54"/>
          <p:cNvSpPr/>
          <p:nvPr/>
        </p:nvSpPr>
        <p:spPr>
          <a:xfrm>
            <a:off x="13982842" y="7239115"/>
            <a:ext cx="881035" cy="454990"/>
          </a:xfrm>
          <a:prstGeom prst="roundRect">
            <a:avLst>
              <a:gd name="adj" fmla="val 21429"/>
            </a:avLst>
          </a:prstGeom>
          <a:solidFill>
            <a:srgbClr val="F2C9C9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145338" y="7336612"/>
            <a:ext cx="632242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35" dirty="0"/>
          </a:p>
        </p:txBody>
      </p:sp>
      <p:sp>
        <p:nvSpPr>
          <p:cNvPr id="58" name="Shape 56"/>
          <p:cNvSpPr/>
          <p:nvPr/>
        </p:nvSpPr>
        <p:spPr>
          <a:xfrm>
            <a:off x="3196628" y="8181594"/>
            <a:ext cx="5849874" cy="1039977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24123" y="8376590"/>
            <a:ext cx="747484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66603" y="8425339"/>
            <a:ext cx="2782575" cy="34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Spanish A1</a:t>
            </a:r>
            <a:endParaRPr lang="en-US" sz="1791" dirty="0"/>
          </a:p>
        </p:txBody>
      </p:sp>
      <p:sp>
        <p:nvSpPr>
          <p:cNvPr id="61" name="Text 59"/>
          <p:cNvSpPr/>
          <p:nvPr/>
        </p:nvSpPr>
        <p:spPr>
          <a:xfrm>
            <a:off x="4366603" y="8734082"/>
            <a:ext cx="2782575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students</a:t>
            </a:r>
            <a:endParaRPr lang="en-US" sz="1407" dirty="0"/>
          </a:p>
        </p:txBody>
      </p:sp>
      <p:sp>
        <p:nvSpPr>
          <p:cNvPr id="62" name="Shape 60"/>
          <p:cNvSpPr/>
          <p:nvPr/>
        </p:nvSpPr>
        <p:spPr>
          <a:xfrm>
            <a:off x="7091212" y="8474088"/>
            <a:ext cx="651763" cy="454990"/>
          </a:xfrm>
          <a:prstGeom prst="roundRect">
            <a:avLst>
              <a:gd name="adj" fmla="val 21429"/>
            </a:avLst>
          </a:prstGeom>
          <a:solidFill>
            <a:srgbClr val="DCD2F2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53708" y="8571586"/>
            <a:ext cx="402970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535" dirty="0"/>
          </a:p>
        </p:txBody>
      </p:sp>
      <p:sp>
        <p:nvSpPr>
          <p:cNvPr id="64" name="Shape 62"/>
          <p:cNvSpPr/>
          <p:nvPr/>
        </p:nvSpPr>
        <p:spPr>
          <a:xfrm>
            <a:off x="7937971" y="8474088"/>
            <a:ext cx="881036" cy="454990"/>
          </a:xfrm>
          <a:prstGeom prst="roundRect">
            <a:avLst>
              <a:gd name="adj" fmla="val 21429"/>
            </a:avLst>
          </a:prstGeom>
          <a:solidFill>
            <a:srgbClr val="F2C9C9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00468" y="8571586"/>
            <a:ext cx="632243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35" dirty="0"/>
          </a:p>
        </p:txBody>
      </p:sp>
      <p:sp>
        <p:nvSpPr>
          <p:cNvPr id="66" name="Shape 64"/>
          <p:cNvSpPr/>
          <p:nvPr/>
        </p:nvSpPr>
        <p:spPr>
          <a:xfrm>
            <a:off x="9241498" y="8181594"/>
            <a:ext cx="5849874" cy="1039977"/>
          </a:xfrm>
          <a:prstGeom prst="roundRect">
            <a:avLst>
              <a:gd name="adj" fmla="val 15625"/>
            </a:avLst>
          </a:prstGeom>
          <a:ln w="32499">
            <a:solidFill>
              <a:srgbClr val="2B2B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8993" y="8376590"/>
            <a:ext cx="747483" cy="649986"/>
          </a:xfrm>
          <a:prstGeom prst="roundRect">
            <a:avLst>
              <a:gd name="adj" fmla="val 15000"/>
            </a:avLst>
          </a:prstGeom>
          <a:solidFill>
            <a:srgbClr val="E6E9F0"/>
          </a:solidFill>
          <a:ln w="16250">
            <a:solidFill>
              <a:srgbClr val="B9BFC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11473" y="8425339"/>
            <a:ext cx="2782576" cy="34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1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Viz 101</a:t>
            </a:r>
            <a:endParaRPr lang="en-US" sz="1791" dirty="0"/>
          </a:p>
        </p:txBody>
      </p:sp>
      <p:sp>
        <p:nvSpPr>
          <p:cNvPr id="69" name="Text 67"/>
          <p:cNvSpPr/>
          <p:nvPr/>
        </p:nvSpPr>
        <p:spPr>
          <a:xfrm>
            <a:off x="10411473" y="8734082"/>
            <a:ext cx="2782576" cy="281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7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students</a:t>
            </a:r>
            <a:endParaRPr lang="en-US" sz="1407" dirty="0"/>
          </a:p>
        </p:txBody>
      </p:sp>
      <p:sp>
        <p:nvSpPr>
          <p:cNvPr id="70" name="Shape 68"/>
          <p:cNvSpPr/>
          <p:nvPr/>
        </p:nvSpPr>
        <p:spPr>
          <a:xfrm>
            <a:off x="13136082" y="8474088"/>
            <a:ext cx="651763" cy="454990"/>
          </a:xfrm>
          <a:prstGeom prst="roundRect">
            <a:avLst>
              <a:gd name="adj" fmla="val 21429"/>
            </a:avLst>
          </a:prstGeom>
          <a:solidFill>
            <a:srgbClr val="DCD2F2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298578" y="8571586"/>
            <a:ext cx="402970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535" dirty="0"/>
          </a:p>
        </p:txBody>
      </p:sp>
      <p:sp>
        <p:nvSpPr>
          <p:cNvPr id="72" name="Shape 70"/>
          <p:cNvSpPr/>
          <p:nvPr/>
        </p:nvSpPr>
        <p:spPr>
          <a:xfrm>
            <a:off x="13982842" y="8474088"/>
            <a:ext cx="881035" cy="454990"/>
          </a:xfrm>
          <a:prstGeom prst="roundRect">
            <a:avLst>
              <a:gd name="adj" fmla="val 21429"/>
            </a:avLst>
          </a:prstGeom>
          <a:solidFill>
            <a:srgbClr val="F2C9C9"/>
          </a:solidFill>
          <a:ln w="16250">
            <a:solidFill>
              <a:srgbClr val="2B2B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145338" y="8571586"/>
            <a:ext cx="632242" cy="2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5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323820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Mobile — login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5379720" y="1536442"/>
            <a:ext cx="7528559" cy="8090415"/>
          </a:xfrm>
          <a:prstGeom prst="roundRect">
            <a:avLst>
              <a:gd name="adj" fmla="val 9868"/>
            </a:avLst>
          </a:prstGeom>
          <a:solidFill>
            <a:srgbClr val="F7F8FC"/>
          </a:solidFill>
          <a:ln w="49530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29575" y="1932682"/>
            <a:ext cx="2228850" cy="148590"/>
          </a:xfrm>
          <a:prstGeom prst="roundRect">
            <a:avLst>
              <a:gd name="adj" fmla="val 50000"/>
            </a:avLst>
          </a:prstGeom>
          <a:solidFill>
            <a:srgbClr val="C9CEDE"/>
          </a:solidFill>
          <a:ln/>
        </p:spPr>
      </p:sp>
      <p:sp>
        <p:nvSpPr>
          <p:cNvPr id="7" name="Shape 5"/>
          <p:cNvSpPr/>
          <p:nvPr/>
        </p:nvSpPr>
        <p:spPr>
          <a:xfrm>
            <a:off x="7032397" y="2503438"/>
            <a:ext cx="818792" cy="734050"/>
          </a:xfrm>
          <a:prstGeom prst="roundRect">
            <a:avLst>
              <a:gd name="adj" fmla="val 23616"/>
            </a:avLst>
          </a:prstGeom>
          <a:solidFill>
            <a:srgbClr val="BCD6F2"/>
          </a:solidFill>
          <a:ln w="49530">
            <a:solidFill>
              <a:srgbClr val="2B2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89577" y="2552968"/>
            <a:ext cx="504432" cy="67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705" b="1" spc="-780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3705" dirty="0"/>
          </a:p>
        </p:txBody>
      </p:sp>
      <p:sp>
        <p:nvSpPr>
          <p:cNvPr id="9" name="Text 7"/>
          <p:cNvSpPr/>
          <p:nvPr/>
        </p:nvSpPr>
        <p:spPr>
          <a:xfrm>
            <a:off x="8024545" y="2535942"/>
            <a:ext cx="3327990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70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705" dirty="0"/>
          </a:p>
        </p:txBody>
      </p:sp>
      <p:sp>
        <p:nvSpPr>
          <p:cNvPr id="10" name="Text 8"/>
          <p:cNvSpPr/>
          <p:nvPr/>
        </p:nvSpPr>
        <p:spPr>
          <a:xfrm>
            <a:off x="5820538" y="3287018"/>
            <a:ext cx="6646925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35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2535" dirty="0"/>
          </a:p>
        </p:txBody>
      </p:sp>
      <p:sp>
        <p:nvSpPr>
          <p:cNvPr id="11" name="Shape 9"/>
          <p:cNvSpPr/>
          <p:nvPr/>
        </p:nvSpPr>
        <p:spPr>
          <a:xfrm>
            <a:off x="6122670" y="4252853"/>
            <a:ext cx="6042659" cy="101536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24765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4615" y="4550033"/>
            <a:ext cx="5580049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5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you@example.edu</a:t>
            </a:r>
            <a:endParaRPr lang="en-US" sz="2535" dirty="0"/>
          </a:p>
        </p:txBody>
      </p:sp>
      <p:sp>
        <p:nvSpPr>
          <p:cNvPr id="13" name="Shape 11"/>
          <p:cNvSpPr/>
          <p:nvPr/>
        </p:nvSpPr>
        <p:spPr>
          <a:xfrm>
            <a:off x="6122670" y="5565398"/>
            <a:ext cx="6042659" cy="101536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24765">
            <a:solidFill>
              <a:srgbClr val="2B2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4615" y="5862578"/>
            <a:ext cx="5580049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5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2535" dirty="0"/>
          </a:p>
        </p:txBody>
      </p:sp>
      <p:sp>
        <p:nvSpPr>
          <p:cNvPr id="15" name="Shape 13"/>
          <p:cNvSpPr/>
          <p:nvPr/>
        </p:nvSpPr>
        <p:spPr>
          <a:xfrm>
            <a:off x="6122670" y="7026533"/>
            <a:ext cx="6042659" cy="1213485"/>
          </a:xfrm>
          <a:prstGeom prst="roundRect">
            <a:avLst>
              <a:gd name="adj" fmla="val 18367"/>
            </a:avLst>
          </a:prstGeom>
          <a:solidFill>
            <a:srgbClr val="BCD6F2"/>
          </a:solidFill>
          <a:ln w="49530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26941" dir="2700000">
              <a:srgbClr val="2B2B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8741" y="7373243"/>
            <a:ext cx="5530519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92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Sign in →</a:t>
            </a:r>
            <a:endParaRPr lang="en-US" sz="2925" dirty="0"/>
          </a:p>
        </p:txBody>
      </p:sp>
      <p:sp>
        <p:nvSpPr>
          <p:cNvPr id="17" name="Text 15"/>
          <p:cNvSpPr/>
          <p:nvPr/>
        </p:nvSpPr>
        <p:spPr>
          <a:xfrm>
            <a:off x="5820538" y="8636258"/>
            <a:ext cx="66469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4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New? </a:t>
            </a:r>
            <a:pPr algn="ctr" indent="0" marL="0">
              <a:buNone/>
            </a:pPr>
            <a:r>
              <a:rPr lang="en-US" sz="2340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2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BCD6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1j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628699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Mobile — student homepage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5992139" y="1481208"/>
            <a:ext cx="6303722" cy="8200734"/>
          </a:xfrm>
          <a:prstGeom prst="roundRect">
            <a:avLst>
              <a:gd name="adj" fmla="val 9868"/>
            </a:avLst>
          </a:prstGeom>
          <a:solidFill>
            <a:srgbClr val="F7F8FC"/>
          </a:solidFill>
          <a:ln w="4147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10884" y="1812983"/>
            <a:ext cx="1866234" cy="124416"/>
          </a:xfrm>
          <a:prstGeom prst="roundRect">
            <a:avLst>
              <a:gd name="adj" fmla="val 50000"/>
            </a:avLst>
          </a:prstGeom>
          <a:solidFill>
            <a:srgbClr val="C9CEDE"/>
          </a:solidFill>
          <a:ln/>
        </p:spPr>
      </p:sp>
      <p:sp>
        <p:nvSpPr>
          <p:cNvPr id="7" name="Shape 5"/>
          <p:cNvSpPr/>
          <p:nvPr/>
        </p:nvSpPr>
        <p:spPr>
          <a:xfrm>
            <a:off x="6531273" y="2246170"/>
            <a:ext cx="603610" cy="530710"/>
          </a:xfrm>
          <a:prstGeom prst="roundRect">
            <a:avLst>
              <a:gd name="adj" fmla="val 27350"/>
            </a:avLst>
          </a:prstGeom>
          <a:solidFill>
            <a:srgbClr val="BCD6F2"/>
          </a:solidFill>
          <a:ln w="41472">
            <a:solidFill>
              <a:srgbClr val="2B2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7161" y="2287641"/>
            <a:ext cx="332196" cy="485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2612" b="1" spc="-653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2612" dirty="0"/>
          </a:p>
        </p:txBody>
      </p:sp>
      <p:sp>
        <p:nvSpPr>
          <p:cNvPr id="9" name="Text 7"/>
          <p:cNvSpPr/>
          <p:nvPr/>
        </p:nvSpPr>
        <p:spPr>
          <a:xfrm>
            <a:off x="7280035" y="2273062"/>
            <a:ext cx="2354236" cy="515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1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612" dirty="0"/>
          </a:p>
        </p:txBody>
      </p:sp>
      <p:sp>
        <p:nvSpPr>
          <p:cNvPr id="10" name="Shape 8"/>
          <p:cNvSpPr/>
          <p:nvPr/>
        </p:nvSpPr>
        <p:spPr>
          <a:xfrm>
            <a:off x="10623703" y="2315505"/>
            <a:ext cx="1133024" cy="373247"/>
          </a:xfrm>
          <a:prstGeom prst="roundRect">
            <a:avLst>
              <a:gd name="adj" fmla="val 50000"/>
            </a:avLst>
          </a:prstGeom>
          <a:solidFill>
            <a:srgbClr val="BCD6F2"/>
          </a:solidFill>
          <a:ln w="41472">
            <a:solidFill>
              <a:srgbClr val="2B2B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31062" y="2398449"/>
            <a:ext cx="794505" cy="24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69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469" dirty="0"/>
          </a:p>
        </p:txBody>
      </p:sp>
      <p:sp>
        <p:nvSpPr>
          <p:cNvPr id="12" name="Shape 10"/>
          <p:cNvSpPr/>
          <p:nvPr/>
        </p:nvSpPr>
        <p:spPr>
          <a:xfrm>
            <a:off x="6531273" y="3025711"/>
            <a:ext cx="5225453" cy="7050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736">
            <a:solidFill>
              <a:srgbClr val="B9BF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0840" y="3212334"/>
            <a:ext cx="4843083" cy="369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9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Search courses…</a:t>
            </a:r>
            <a:endParaRPr lang="en-US" sz="1959" dirty="0"/>
          </a:p>
        </p:txBody>
      </p:sp>
      <p:sp>
        <p:nvSpPr>
          <p:cNvPr id="14" name="Text 12"/>
          <p:cNvSpPr/>
          <p:nvPr/>
        </p:nvSpPr>
        <p:spPr>
          <a:xfrm>
            <a:off x="6531273" y="4021035"/>
            <a:ext cx="5747998" cy="473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4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2449" dirty="0"/>
          </a:p>
        </p:txBody>
      </p:sp>
      <p:sp>
        <p:nvSpPr>
          <p:cNvPr id="15" name="Shape 13"/>
          <p:cNvSpPr/>
          <p:nvPr/>
        </p:nvSpPr>
        <p:spPr>
          <a:xfrm>
            <a:off x="6531273" y="4663849"/>
            <a:ext cx="5225453" cy="2239480"/>
          </a:xfrm>
          <a:prstGeom prst="roundRect">
            <a:avLst>
              <a:gd name="adj" fmla="val 9259"/>
            </a:avLst>
          </a:prstGeom>
          <a:ln w="41472">
            <a:solidFill>
              <a:srgbClr val="2B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2745" y="4705321"/>
            <a:ext cx="5142509" cy="1119740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2745" y="5783589"/>
            <a:ext cx="5142509" cy="4147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8" name="Text 16"/>
          <p:cNvSpPr/>
          <p:nvPr/>
        </p:nvSpPr>
        <p:spPr>
          <a:xfrm>
            <a:off x="6780105" y="5990948"/>
            <a:ext cx="5200570" cy="411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2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2123" dirty="0"/>
          </a:p>
        </p:txBody>
      </p:sp>
      <p:sp>
        <p:nvSpPr>
          <p:cNvPr id="19" name="Shape 17"/>
          <p:cNvSpPr/>
          <p:nvPr/>
        </p:nvSpPr>
        <p:spPr>
          <a:xfrm>
            <a:off x="6780105" y="6488610"/>
            <a:ext cx="4727790" cy="165888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0736">
            <a:solidFill>
              <a:srgbClr val="2B2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0841" y="6509346"/>
            <a:ext cx="2811662" cy="124416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1273" y="7110688"/>
            <a:ext cx="5225453" cy="2239480"/>
          </a:xfrm>
          <a:prstGeom prst="roundRect">
            <a:avLst>
              <a:gd name="adj" fmla="val 9259"/>
            </a:avLst>
          </a:prstGeom>
          <a:ln w="41472">
            <a:solidFill>
              <a:srgbClr val="2B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2745" y="7152160"/>
            <a:ext cx="5142509" cy="1119740"/>
          </a:xfrm>
          <a:prstGeom prst="rect">
            <a:avLst/>
          </a:prstGeom>
          <a:solidFill>
            <a:srgbClr val="E6E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2745" y="8230428"/>
            <a:ext cx="5142509" cy="4147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24" name="Text 22"/>
          <p:cNvSpPr/>
          <p:nvPr/>
        </p:nvSpPr>
        <p:spPr>
          <a:xfrm>
            <a:off x="6780105" y="8437787"/>
            <a:ext cx="5200570" cy="411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2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2123" dirty="0"/>
          </a:p>
        </p:txBody>
      </p:sp>
      <p:sp>
        <p:nvSpPr>
          <p:cNvPr id="25" name="Shape 23"/>
          <p:cNvSpPr/>
          <p:nvPr/>
        </p:nvSpPr>
        <p:spPr>
          <a:xfrm>
            <a:off x="6780105" y="8935449"/>
            <a:ext cx="4727790" cy="165888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20736">
            <a:solidFill>
              <a:srgbClr val="2B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0841" y="8956185"/>
            <a:ext cx="1171580" cy="124416"/>
          </a:xfrm>
          <a:prstGeom prst="rect">
            <a:avLst/>
          </a:prstGeom>
          <a:solidFill>
            <a:srgbClr val="C7E8D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991868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333500" y="4601468"/>
            <a:ext cx="171831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224"/>
              </a:lnSpc>
              <a:buNone/>
            </a:pPr>
            <a:r>
              <a:rPr lang="en-US" sz="72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Role pages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5790158"/>
            <a:ext cx="171831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4A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roster and admin teacher statistics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C7E8D6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117308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 — enrolled students &amp; progress (filterable)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3675259" y="1487253"/>
            <a:ext cx="10937481" cy="8188796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863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03892" y="1515885"/>
            <a:ext cx="10880217" cy="858965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7" name="Shape 5"/>
          <p:cNvSpPr/>
          <p:nvPr/>
        </p:nvSpPr>
        <p:spPr>
          <a:xfrm>
            <a:off x="3703892" y="2346217"/>
            <a:ext cx="10880217" cy="2863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3990213" y="1735547"/>
            <a:ext cx="454535" cy="405100"/>
          </a:xfrm>
          <a:prstGeom prst="roundRect">
            <a:avLst>
              <a:gd name="adj" fmla="val 24738"/>
            </a:avLst>
          </a:prstGeom>
          <a:solidFill>
            <a:srgbClr val="BCD6F2"/>
          </a:solidFill>
          <a:ln w="28632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04742" y="1764179"/>
            <a:ext cx="270932" cy="3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0"/>
              </a:lnSpc>
              <a:buNone/>
            </a:pPr>
            <a:r>
              <a:rPr lang="en-US" sz="2029" b="1" spc="-451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2029" dirty="0"/>
          </a:p>
        </p:txBody>
      </p:sp>
      <p:sp>
        <p:nvSpPr>
          <p:cNvPr id="10" name="Text 8"/>
          <p:cNvSpPr/>
          <p:nvPr/>
        </p:nvSpPr>
        <p:spPr>
          <a:xfrm>
            <a:off x="4544961" y="1759034"/>
            <a:ext cx="1845577" cy="396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029" dirty="0"/>
          </a:p>
        </p:txBody>
      </p:sp>
      <p:sp>
        <p:nvSpPr>
          <p:cNvPr id="11" name="Text 9"/>
          <p:cNvSpPr/>
          <p:nvPr/>
        </p:nvSpPr>
        <p:spPr>
          <a:xfrm>
            <a:off x="10399788" y="1773574"/>
            <a:ext cx="1043429" cy="353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1578" dirty="0"/>
          </a:p>
        </p:txBody>
      </p:sp>
      <p:sp>
        <p:nvSpPr>
          <p:cNvPr id="12" name="Shape 10"/>
          <p:cNvSpPr/>
          <p:nvPr/>
        </p:nvSpPr>
        <p:spPr>
          <a:xfrm>
            <a:off x="11596076" y="2059896"/>
            <a:ext cx="862096" cy="2863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3" name="Text 11"/>
          <p:cNvSpPr/>
          <p:nvPr/>
        </p:nvSpPr>
        <p:spPr>
          <a:xfrm>
            <a:off x="11596076" y="1773574"/>
            <a:ext cx="938296" cy="324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Students</a:t>
            </a:r>
            <a:endParaRPr lang="en-US" sz="1578" dirty="0"/>
          </a:p>
        </p:txBody>
      </p:sp>
      <p:sp>
        <p:nvSpPr>
          <p:cNvPr id="14" name="Shape 12"/>
          <p:cNvSpPr/>
          <p:nvPr/>
        </p:nvSpPr>
        <p:spPr>
          <a:xfrm>
            <a:off x="12687228" y="1773574"/>
            <a:ext cx="894756" cy="314954"/>
          </a:xfrm>
          <a:prstGeom prst="roundRect">
            <a:avLst>
              <a:gd name="adj" fmla="val 50000"/>
            </a:avLst>
          </a:prstGeom>
          <a:solidFill>
            <a:srgbClr val="C7E8D6"/>
          </a:solidFill>
          <a:ln w="28632">
            <a:solidFill>
              <a:srgbClr val="2B2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59021" y="1845154"/>
            <a:ext cx="627370" cy="209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7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127" dirty="0"/>
          </a:p>
        </p:txBody>
      </p:sp>
      <p:sp>
        <p:nvSpPr>
          <p:cNvPr id="16" name="Shape 14"/>
          <p:cNvSpPr/>
          <p:nvPr/>
        </p:nvSpPr>
        <p:spPr>
          <a:xfrm>
            <a:off x="13811041" y="1687678"/>
            <a:ext cx="486747" cy="486747"/>
          </a:xfrm>
          <a:prstGeom prst="ellipse">
            <a:avLst/>
          </a:prstGeom>
          <a:solidFill>
            <a:srgbClr val="D6EFE0"/>
          </a:solidFill>
          <a:ln w="28632">
            <a:solidFill>
              <a:srgbClr val="2B2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7477" y="2689803"/>
            <a:ext cx="11212350" cy="42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4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 progress</a:t>
            </a:r>
            <a:endParaRPr lang="en-US" sz="2142" dirty="0"/>
          </a:p>
        </p:txBody>
      </p:sp>
      <p:sp>
        <p:nvSpPr>
          <p:cNvPr id="18" name="Text 16"/>
          <p:cNvSpPr/>
          <p:nvPr/>
        </p:nvSpPr>
        <p:spPr>
          <a:xfrm>
            <a:off x="4047477" y="3104969"/>
            <a:ext cx="11212350" cy="267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3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enrolled in your courses</a:t>
            </a:r>
            <a:endParaRPr lang="en-US" sz="1353" dirty="0"/>
          </a:p>
        </p:txBody>
      </p:sp>
      <p:sp>
        <p:nvSpPr>
          <p:cNvPr id="19" name="Shape 17"/>
          <p:cNvSpPr/>
          <p:nvPr/>
        </p:nvSpPr>
        <p:spPr>
          <a:xfrm>
            <a:off x="4047477" y="3570241"/>
            <a:ext cx="5697798" cy="501063"/>
          </a:xfrm>
          <a:prstGeom prst="roundRect">
            <a:avLst>
              <a:gd name="adj" fmla="val 22857"/>
            </a:avLst>
          </a:prstGeom>
          <a:solidFill>
            <a:srgbClr val="FBFC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586" y="3699086"/>
            <a:ext cx="5496514" cy="28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65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Filter by name…</a:t>
            </a:r>
            <a:endParaRPr lang="en-US" sz="1465" dirty="0"/>
          </a:p>
        </p:txBody>
      </p:sp>
      <p:sp>
        <p:nvSpPr>
          <p:cNvPr id="21" name="Shape 19"/>
          <p:cNvSpPr/>
          <p:nvPr/>
        </p:nvSpPr>
        <p:spPr>
          <a:xfrm>
            <a:off x="9888436" y="3563083"/>
            <a:ext cx="2619170" cy="515379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4545" y="3691928"/>
            <a:ext cx="2325528" cy="2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65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Intro to Statistics ▾</a:t>
            </a:r>
            <a:endParaRPr lang="en-US" sz="1465" dirty="0"/>
          </a:p>
        </p:txBody>
      </p:sp>
      <p:sp>
        <p:nvSpPr>
          <p:cNvPr id="23" name="Shape 21"/>
          <p:cNvSpPr/>
          <p:nvPr/>
        </p:nvSpPr>
        <p:spPr>
          <a:xfrm>
            <a:off x="12650767" y="3563083"/>
            <a:ext cx="1589755" cy="515379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36876" y="3691928"/>
            <a:ext cx="1293737" cy="2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65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Progress: All ▾</a:t>
            </a:r>
            <a:endParaRPr lang="en-US" sz="1465" dirty="0"/>
          </a:p>
        </p:txBody>
      </p:sp>
      <p:sp>
        <p:nvSpPr>
          <p:cNvPr id="25" name="Text 23"/>
          <p:cNvSpPr/>
          <p:nvPr/>
        </p:nvSpPr>
        <p:spPr>
          <a:xfrm>
            <a:off x="4820545" y="4307519"/>
            <a:ext cx="3012974" cy="252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spc="50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731406" y="4307519"/>
            <a:ext cx="3443575" cy="252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spc="50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10957522" y="4307519"/>
            <a:ext cx="1078325" cy="252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spc="50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12021532" y="4307519"/>
            <a:ext cx="2047198" cy="252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spc="50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ENROLLED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4047477" y="4636789"/>
            <a:ext cx="10193045" cy="787384"/>
          </a:xfrm>
          <a:prstGeom prst="roundRect">
            <a:avLst>
              <a:gd name="adj" fmla="val 18182"/>
            </a:avLst>
          </a:prstGeom>
          <a:ln w="28632">
            <a:solidFill>
              <a:srgbClr val="2B2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47902" y="4801424"/>
            <a:ext cx="458114" cy="458114"/>
          </a:xfrm>
          <a:prstGeom prst="ellipse">
            <a:avLst/>
          </a:prstGeom>
          <a:solidFill>
            <a:srgbClr val="DBE4F5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7810" y="4794266"/>
            <a:ext cx="2968930" cy="310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Aisha Khan</a:t>
            </a:r>
            <a:endParaRPr lang="en-US" sz="1578" dirty="0"/>
          </a:p>
        </p:txBody>
      </p:sp>
      <p:sp>
        <p:nvSpPr>
          <p:cNvPr id="32" name="Text 30"/>
          <p:cNvSpPr/>
          <p:nvPr/>
        </p:nvSpPr>
        <p:spPr>
          <a:xfrm>
            <a:off x="4877810" y="5066271"/>
            <a:ext cx="2968930" cy="238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4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12 Mar</a:t>
            </a:r>
            <a:endParaRPr lang="en-US" sz="1184" dirty="0"/>
          </a:p>
        </p:txBody>
      </p:sp>
      <p:sp>
        <p:nvSpPr>
          <p:cNvPr id="33" name="Shape 31"/>
          <p:cNvSpPr/>
          <p:nvPr/>
        </p:nvSpPr>
        <p:spPr>
          <a:xfrm>
            <a:off x="7748631" y="4958901"/>
            <a:ext cx="3084666" cy="14316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62946" y="4973217"/>
            <a:ext cx="2505761" cy="114528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0928890" y="4908795"/>
            <a:ext cx="1078326" cy="28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65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465" dirty="0"/>
          </a:p>
        </p:txBody>
      </p:sp>
      <p:sp>
        <p:nvSpPr>
          <p:cNvPr id="36" name="Text 34"/>
          <p:cNvSpPr/>
          <p:nvPr/>
        </p:nvSpPr>
        <p:spPr>
          <a:xfrm>
            <a:off x="11992899" y="4851530"/>
            <a:ext cx="2047199" cy="39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3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courses ▾</a:t>
            </a:r>
            <a:endParaRPr lang="en-US" sz="1353" dirty="0"/>
          </a:p>
        </p:txBody>
      </p:sp>
      <p:sp>
        <p:nvSpPr>
          <p:cNvPr id="37" name="Shape 35"/>
          <p:cNvSpPr/>
          <p:nvPr/>
        </p:nvSpPr>
        <p:spPr>
          <a:xfrm>
            <a:off x="4648753" y="5538701"/>
            <a:ext cx="9591770" cy="1030758"/>
          </a:xfrm>
          <a:prstGeom prst="roundRect">
            <a:avLst>
              <a:gd name="adj" fmla="val 13889"/>
            </a:avLst>
          </a:prstGeom>
          <a:solidFill>
            <a:srgbClr val="EEF4FC"/>
          </a:solidFill>
          <a:ln w="14316">
            <a:solidFill>
              <a:srgbClr val="6F8FD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863494" y="5724811"/>
            <a:ext cx="10078517" cy="209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7" b="1" dirty="0">
                <a:solidFill>
                  <a:srgbClr val="3A5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EXPANDED · ALL ACTIVE COURSES</a:t>
            </a:r>
            <a:endParaRPr lang="en-US" sz="1127" dirty="0"/>
          </a:p>
        </p:txBody>
      </p:sp>
      <p:sp>
        <p:nvSpPr>
          <p:cNvPr id="39" name="Shape 37"/>
          <p:cNvSpPr/>
          <p:nvPr/>
        </p:nvSpPr>
        <p:spPr>
          <a:xfrm>
            <a:off x="4863494" y="6011132"/>
            <a:ext cx="2046975" cy="3722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35287" y="6082712"/>
            <a:ext cx="1346975" cy="26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3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Statistics</a:t>
            </a:r>
            <a:endParaRPr lang="en-US" sz="1353" dirty="0"/>
          </a:p>
        </p:txBody>
      </p:sp>
      <p:sp>
        <p:nvSpPr>
          <p:cNvPr id="41" name="Text 39"/>
          <p:cNvSpPr/>
          <p:nvPr/>
        </p:nvSpPr>
        <p:spPr>
          <a:xfrm>
            <a:off x="6391959" y="6082712"/>
            <a:ext cx="422917" cy="26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2B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353" dirty="0"/>
          </a:p>
        </p:txBody>
      </p:sp>
      <p:sp>
        <p:nvSpPr>
          <p:cNvPr id="42" name="Shape 40"/>
          <p:cNvSpPr/>
          <p:nvPr/>
        </p:nvSpPr>
        <p:spPr>
          <a:xfrm>
            <a:off x="7024997" y="6011132"/>
            <a:ext cx="1727771" cy="3722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96790" y="6082712"/>
            <a:ext cx="1027772" cy="26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3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Viz 101</a:t>
            </a:r>
            <a:endParaRPr lang="en-US" sz="1353" dirty="0"/>
          </a:p>
        </p:txBody>
      </p:sp>
      <p:sp>
        <p:nvSpPr>
          <p:cNvPr id="44" name="Text 42"/>
          <p:cNvSpPr/>
          <p:nvPr/>
        </p:nvSpPr>
        <p:spPr>
          <a:xfrm>
            <a:off x="8234258" y="6082712"/>
            <a:ext cx="422918" cy="26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2B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353" dirty="0"/>
          </a:p>
        </p:txBody>
      </p:sp>
      <p:sp>
        <p:nvSpPr>
          <p:cNvPr id="45" name="Shape 43"/>
          <p:cNvSpPr/>
          <p:nvPr/>
        </p:nvSpPr>
        <p:spPr>
          <a:xfrm>
            <a:off x="8867297" y="6011132"/>
            <a:ext cx="2190807" cy="3722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39090" y="6082712"/>
            <a:ext cx="1490807" cy="26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3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Design Basics</a:t>
            </a:r>
            <a:endParaRPr lang="en-US" sz="1353" dirty="0"/>
          </a:p>
        </p:txBody>
      </p:sp>
      <p:sp>
        <p:nvSpPr>
          <p:cNvPr id="47" name="Text 45"/>
          <p:cNvSpPr/>
          <p:nvPr/>
        </p:nvSpPr>
        <p:spPr>
          <a:xfrm>
            <a:off x="10539594" y="6082712"/>
            <a:ext cx="422917" cy="26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8A6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353" dirty="0"/>
          </a:p>
        </p:txBody>
      </p:sp>
      <p:sp>
        <p:nvSpPr>
          <p:cNvPr id="48" name="Shape 46"/>
          <p:cNvSpPr/>
          <p:nvPr/>
        </p:nvSpPr>
        <p:spPr>
          <a:xfrm>
            <a:off x="4047477" y="6683987"/>
            <a:ext cx="10193045" cy="787384"/>
          </a:xfrm>
          <a:prstGeom prst="roundRect">
            <a:avLst>
              <a:gd name="adj" fmla="val 18182"/>
            </a:avLst>
          </a:prstGeom>
          <a:ln w="28632">
            <a:solidFill>
              <a:srgbClr val="2B2B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47902" y="6848623"/>
            <a:ext cx="458114" cy="458114"/>
          </a:xfrm>
          <a:prstGeom prst="ellipse">
            <a:avLst/>
          </a:prstGeom>
          <a:solidFill>
            <a:srgbClr val="DBE4F5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7810" y="6841465"/>
            <a:ext cx="2968930" cy="310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Marcus Bell</a:t>
            </a:r>
            <a:endParaRPr lang="en-US" sz="1578" dirty="0"/>
          </a:p>
        </p:txBody>
      </p:sp>
      <p:sp>
        <p:nvSpPr>
          <p:cNvPr id="51" name="Text 49"/>
          <p:cNvSpPr/>
          <p:nvPr/>
        </p:nvSpPr>
        <p:spPr>
          <a:xfrm>
            <a:off x="4877810" y="7113470"/>
            <a:ext cx="2968930" cy="238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4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03 Mar</a:t>
            </a:r>
            <a:endParaRPr lang="en-US" sz="1184" dirty="0"/>
          </a:p>
        </p:txBody>
      </p:sp>
      <p:sp>
        <p:nvSpPr>
          <p:cNvPr id="52" name="Shape 50"/>
          <p:cNvSpPr/>
          <p:nvPr/>
        </p:nvSpPr>
        <p:spPr>
          <a:xfrm>
            <a:off x="7748631" y="7006099"/>
            <a:ext cx="3084666" cy="14316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62946" y="7020416"/>
            <a:ext cx="1375014" cy="114529"/>
          </a:xfrm>
          <a:prstGeom prst="rect">
            <a:avLst/>
          </a:prstGeom>
          <a:solidFill>
            <a:srgbClr val="BCD6F2"/>
          </a:solidFill>
          <a:ln/>
        </p:spPr>
      </p:sp>
      <p:sp>
        <p:nvSpPr>
          <p:cNvPr id="54" name="Text 52"/>
          <p:cNvSpPr/>
          <p:nvPr/>
        </p:nvSpPr>
        <p:spPr>
          <a:xfrm>
            <a:off x="10928890" y="6955993"/>
            <a:ext cx="1078326" cy="28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65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465" dirty="0"/>
          </a:p>
        </p:txBody>
      </p:sp>
      <p:sp>
        <p:nvSpPr>
          <p:cNvPr id="55" name="Text 53"/>
          <p:cNvSpPr/>
          <p:nvPr/>
        </p:nvSpPr>
        <p:spPr>
          <a:xfrm>
            <a:off x="11992899" y="6898729"/>
            <a:ext cx="2047199" cy="396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3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courses ▸</a:t>
            </a:r>
            <a:endParaRPr lang="en-US" sz="1353" dirty="0"/>
          </a:p>
        </p:txBody>
      </p:sp>
      <p:sp>
        <p:nvSpPr>
          <p:cNvPr id="56" name="Shape 54"/>
          <p:cNvSpPr/>
          <p:nvPr/>
        </p:nvSpPr>
        <p:spPr>
          <a:xfrm>
            <a:off x="4047477" y="7585901"/>
            <a:ext cx="10193045" cy="787383"/>
          </a:xfrm>
          <a:prstGeom prst="roundRect">
            <a:avLst>
              <a:gd name="adj" fmla="val 18182"/>
            </a:avLst>
          </a:prstGeom>
          <a:ln w="28632">
            <a:solidFill>
              <a:srgbClr val="2B2B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47902" y="7750535"/>
            <a:ext cx="458114" cy="458115"/>
          </a:xfrm>
          <a:prstGeom prst="ellipse">
            <a:avLst/>
          </a:prstGeom>
          <a:solidFill>
            <a:srgbClr val="DBE4F5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77810" y="7743377"/>
            <a:ext cx="2968930" cy="310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Priya Nair</a:t>
            </a:r>
            <a:endParaRPr lang="en-US" sz="1578" dirty="0"/>
          </a:p>
        </p:txBody>
      </p:sp>
      <p:sp>
        <p:nvSpPr>
          <p:cNvPr id="59" name="Text 57"/>
          <p:cNvSpPr/>
          <p:nvPr/>
        </p:nvSpPr>
        <p:spPr>
          <a:xfrm>
            <a:off x="4877810" y="8015383"/>
            <a:ext cx="2968930" cy="238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4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18 Feb</a:t>
            </a:r>
            <a:endParaRPr lang="en-US" sz="1184" dirty="0"/>
          </a:p>
        </p:txBody>
      </p:sp>
      <p:sp>
        <p:nvSpPr>
          <p:cNvPr id="60" name="Shape 58"/>
          <p:cNvSpPr/>
          <p:nvPr/>
        </p:nvSpPr>
        <p:spPr>
          <a:xfrm>
            <a:off x="7748631" y="7908013"/>
            <a:ext cx="3084666" cy="143160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62946" y="7922328"/>
            <a:ext cx="2964323" cy="114529"/>
          </a:xfrm>
          <a:prstGeom prst="rect">
            <a:avLst/>
          </a:prstGeom>
          <a:solidFill>
            <a:srgbClr val="C7E8D6"/>
          </a:solidFill>
          <a:ln/>
        </p:spPr>
      </p:sp>
      <p:sp>
        <p:nvSpPr>
          <p:cNvPr id="62" name="Text 60"/>
          <p:cNvSpPr/>
          <p:nvPr/>
        </p:nvSpPr>
        <p:spPr>
          <a:xfrm>
            <a:off x="10928890" y="7857906"/>
            <a:ext cx="1078326" cy="281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65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465" dirty="0"/>
          </a:p>
        </p:txBody>
      </p:sp>
      <p:sp>
        <p:nvSpPr>
          <p:cNvPr id="63" name="Text 61"/>
          <p:cNvSpPr/>
          <p:nvPr/>
        </p:nvSpPr>
        <p:spPr>
          <a:xfrm>
            <a:off x="11992899" y="7800641"/>
            <a:ext cx="2047199" cy="396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3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courses ▸</a:t>
            </a:r>
            <a:endParaRPr lang="en-US" sz="1353" dirty="0"/>
          </a:p>
        </p:txBody>
      </p:sp>
      <p:sp>
        <p:nvSpPr>
          <p:cNvPr id="64" name="Shape 62"/>
          <p:cNvSpPr/>
          <p:nvPr/>
        </p:nvSpPr>
        <p:spPr>
          <a:xfrm>
            <a:off x="4047477" y="8487813"/>
            <a:ext cx="10193045" cy="787384"/>
          </a:xfrm>
          <a:prstGeom prst="roundRect">
            <a:avLst>
              <a:gd name="adj" fmla="val 18182"/>
            </a:avLst>
          </a:prstGeom>
          <a:ln w="28632">
            <a:solidFill>
              <a:srgbClr val="2B2B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47902" y="8652449"/>
            <a:ext cx="458114" cy="458114"/>
          </a:xfrm>
          <a:prstGeom prst="ellipse">
            <a:avLst/>
          </a:prstGeom>
          <a:solidFill>
            <a:srgbClr val="DBE4F5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77810" y="8645290"/>
            <a:ext cx="2968930" cy="310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Tom Reid</a:t>
            </a:r>
            <a:endParaRPr lang="en-US" sz="1578" dirty="0"/>
          </a:p>
        </p:txBody>
      </p:sp>
      <p:sp>
        <p:nvSpPr>
          <p:cNvPr id="67" name="Text 65"/>
          <p:cNvSpPr/>
          <p:nvPr/>
        </p:nvSpPr>
        <p:spPr>
          <a:xfrm>
            <a:off x="4877810" y="8917295"/>
            <a:ext cx="2968930" cy="238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84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21 Mar</a:t>
            </a:r>
            <a:endParaRPr lang="en-US" sz="1184" dirty="0"/>
          </a:p>
        </p:txBody>
      </p:sp>
      <p:sp>
        <p:nvSpPr>
          <p:cNvPr id="68" name="Shape 66"/>
          <p:cNvSpPr/>
          <p:nvPr/>
        </p:nvSpPr>
        <p:spPr>
          <a:xfrm>
            <a:off x="7748631" y="8809925"/>
            <a:ext cx="3084666" cy="143161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4316">
            <a:solidFill>
              <a:srgbClr val="2B2B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62946" y="8824242"/>
            <a:ext cx="550051" cy="114528"/>
          </a:xfrm>
          <a:prstGeom prst="rect">
            <a:avLst/>
          </a:prstGeom>
          <a:solidFill>
            <a:srgbClr val="F2C9C9"/>
          </a:solidFill>
          <a:ln/>
        </p:spPr>
      </p:sp>
      <p:sp>
        <p:nvSpPr>
          <p:cNvPr id="70" name="Text 68"/>
          <p:cNvSpPr/>
          <p:nvPr/>
        </p:nvSpPr>
        <p:spPr>
          <a:xfrm>
            <a:off x="10928890" y="8759819"/>
            <a:ext cx="1078326" cy="28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65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465" dirty="0"/>
          </a:p>
        </p:txBody>
      </p:sp>
      <p:sp>
        <p:nvSpPr>
          <p:cNvPr id="71" name="Text 69"/>
          <p:cNvSpPr/>
          <p:nvPr/>
        </p:nvSpPr>
        <p:spPr>
          <a:xfrm>
            <a:off x="11992899" y="8702555"/>
            <a:ext cx="2047199" cy="396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3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course ▸</a:t>
            </a:r>
            <a:endParaRPr lang="en-US" sz="135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C7E8D6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61638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Admin — teacher statistics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4286536" y="1487138"/>
            <a:ext cx="9714928" cy="8189023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2543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11968" y="1512570"/>
            <a:ext cx="9664065" cy="762953"/>
          </a:xfrm>
          <a:prstGeom prst="rect">
            <a:avLst/>
          </a:prstGeom>
          <a:solidFill>
            <a:srgbClr val="F8F6FC"/>
          </a:solidFill>
          <a:ln/>
        </p:spPr>
      </p:sp>
      <p:sp>
        <p:nvSpPr>
          <p:cNvPr id="7" name="Shape 5"/>
          <p:cNvSpPr/>
          <p:nvPr/>
        </p:nvSpPr>
        <p:spPr>
          <a:xfrm>
            <a:off x="4311968" y="2250091"/>
            <a:ext cx="9664065" cy="2543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8" name="Shape 6"/>
          <p:cNvSpPr/>
          <p:nvPr/>
        </p:nvSpPr>
        <p:spPr>
          <a:xfrm>
            <a:off x="4566285" y="1707679"/>
            <a:ext cx="403729" cy="359820"/>
          </a:xfrm>
          <a:prstGeom prst="roundRect">
            <a:avLst>
              <a:gd name="adj" fmla="val 24738"/>
            </a:avLst>
          </a:prstGeom>
          <a:solidFill>
            <a:srgbClr val="BCD6F2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8012" y="1733111"/>
            <a:ext cx="240648" cy="347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0"/>
              </a:lnSpc>
              <a:buNone/>
            </a:pPr>
            <a:r>
              <a:rPr lang="en-US" sz="1802" b="1" spc="-400" kern="0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LH</a:t>
            </a:r>
            <a:endParaRPr lang="en-US" sz="1802" dirty="0"/>
          </a:p>
        </p:txBody>
      </p:sp>
      <p:sp>
        <p:nvSpPr>
          <p:cNvPr id="10" name="Text 8"/>
          <p:cNvSpPr/>
          <p:nvPr/>
        </p:nvSpPr>
        <p:spPr>
          <a:xfrm>
            <a:off x="5059025" y="1728541"/>
            <a:ext cx="1647803" cy="35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1802" dirty="0"/>
          </a:p>
        </p:txBody>
      </p:sp>
      <p:sp>
        <p:nvSpPr>
          <p:cNvPr id="11" name="Text 9"/>
          <p:cNvSpPr/>
          <p:nvPr/>
        </p:nvSpPr>
        <p:spPr>
          <a:xfrm>
            <a:off x="10086167" y="1741455"/>
            <a:ext cx="639871" cy="317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Courses</a:t>
            </a:r>
            <a:endParaRPr lang="en-US" sz="1402" dirty="0"/>
          </a:p>
        </p:txBody>
      </p:sp>
      <p:sp>
        <p:nvSpPr>
          <p:cNvPr id="12" name="Shape 10"/>
          <p:cNvSpPr/>
          <p:nvPr/>
        </p:nvSpPr>
        <p:spPr>
          <a:xfrm>
            <a:off x="10853292" y="1995773"/>
            <a:ext cx="773682" cy="25432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3292" y="1741455"/>
            <a:ext cx="849882" cy="292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b="1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Teachers</a:t>
            </a:r>
            <a:endParaRPr lang="en-US" sz="1402" dirty="0"/>
          </a:p>
        </p:txBody>
      </p:sp>
      <p:sp>
        <p:nvSpPr>
          <p:cNvPr id="14" name="Text 12"/>
          <p:cNvSpPr/>
          <p:nvPr/>
        </p:nvSpPr>
        <p:spPr>
          <a:xfrm>
            <a:off x="11830428" y="1741455"/>
            <a:ext cx="473372" cy="317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Users</a:t>
            </a:r>
            <a:endParaRPr lang="en-US" sz="1402" dirty="0"/>
          </a:p>
        </p:txBody>
      </p:sp>
      <p:sp>
        <p:nvSpPr>
          <p:cNvPr id="15" name="Shape 13"/>
          <p:cNvSpPr/>
          <p:nvPr/>
        </p:nvSpPr>
        <p:spPr>
          <a:xfrm>
            <a:off x="12431054" y="1741455"/>
            <a:ext cx="654867" cy="279749"/>
          </a:xfrm>
          <a:prstGeom prst="roundRect">
            <a:avLst>
              <a:gd name="adj" fmla="val 50000"/>
            </a:avLst>
          </a:prstGeom>
          <a:solidFill>
            <a:srgbClr val="DCD2F2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83645" y="1805035"/>
            <a:ext cx="425886" cy="19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1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001" dirty="0"/>
          </a:p>
        </p:txBody>
      </p:sp>
      <p:sp>
        <p:nvSpPr>
          <p:cNvPr id="17" name="Shape 15"/>
          <p:cNvSpPr/>
          <p:nvPr/>
        </p:nvSpPr>
        <p:spPr>
          <a:xfrm>
            <a:off x="13289376" y="1665160"/>
            <a:ext cx="432339" cy="432340"/>
          </a:xfrm>
          <a:prstGeom prst="ellipse">
            <a:avLst/>
          </a:prstGeom>
          <a:solidFill>
            <a:srgbClr val="E5DDF5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148" y="2555271"/>
            <a:ext cx="9959074" cy="381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 statistics</a:t>
            </a:r>
            <a:endParaRPr lang="en-US" sz="1902" dirty="0"/>
          </a:p>
        </p:txBody>
      </p:sp>
      <p:sp>
        <p:nvSpPr>
          <p:cNvPr id="19" name="Shape 17"/>
          <p:cNvSpPr/>
          <p:nvPr/>
        </p:nvSpPr>
        <p:spPr>
          <a:xfrm>
            <a:off x="4617148" y="3102054"/>
            <a:ext cx="2916108" cy="966406"/>
          </a:xfrm>
          <a:prstGeom prst="roundRect">
            <a:avLst>
              <a:gd name="adj" fmla="val 13158"/>
            </a:avLst>
          </a:prstGeom>
          <a:solidFill>
            <a:srgbClr val="FAF8FE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0603" y="3280077"/>
            <a:ext cx="2760120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1" b="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</a:t>
            </a:r>
            <a:endParaRPr lang="en-US" sz="1101" dirty="0"/>
          </a:p>
        </p:txBody>
      </p:sp>
      <p:sp>
        <p:nvSpPr>
          <p:cNvPr id="21" name="Text 19"/>
          <p:cNvSpPr/>
          <p:nvPr/>
        </p:nvSpPr>
        <p:spPr>
          <a:xfrm>
            <a:off x="4820603" y="3470815"/>
            <a:ext cx="2760120" cy="457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2403" dirty="0"/>
          </a:p>
        </p:txBody>
      </p:sp>
      <p:sp>
        <p:nvSpPr>
          <p:cNvPr id="22" name="Shape 20"/>
          <p:cNvSpPr/>
          <p:nvPr/>
        </p:nvSpPr>
        <p:spPr>
          <a:xfrm>
            <a:off x="7685847" y="3102054"/>
            <a:ext cx="2916306" cy="966406"/>
          </a:xfrm>
          <a:prstGeom prst="roundRect">
            <a:avLst>
              <a:gd name="adj" fmla="val 13158"/>
            </a:avLst>
          </a:prstGeom>
          <a:solidFill>
            <a:srgbClr val="FAF8FE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9301" y="3280077"/>
            <a:ext cx="2760338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1" b="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enrolments</a:t>
            </a:r>
            <a:endParaRPr lang="en-US" sz="1101" dirty="0"/>
          </a:p>
        </p:txBody>
      </p:sp>
      <p:sp>
        <p:nvSpPr>
          <p:cNvPr id="24" name="Text 22"/>
          <p:cNvSpPr/>
          <p:nvPr/>
        </p:nvSpPr>
        <p:spPr>
          <a:xfrm>
            <a:off x="7889301" y="3470815"/>
            <a:ext cx="2760338" cy="457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1,240</a:t>
            </a:r>
            <a:endParaRPr lang="en-US" sz="2403" dirty="0"/>
          </a:p>
        </p:txBody>
      </p:sp>
      <p:sp>
        <p:nvSpPr>
          <p:cNvPr id="25" name="Shape 23"/>
          <p:cNvSpPr/>
          <p:nvPr/>
        </p:nvSpPr>
        <p:spPr>
          <a:xfrm>
            <a:off x="10754744" y="3102054"/>
            <a:ext cx="2916108" cy="966406"/>
          </a:xfrm>
          <a:prstGeom prst="roundRect">
            <a:avLst>
              <a:gd name="adj" fmla="val 13158"/>
            </a:avLst>
          </a:prstGeom>
          <a:solidFill>
            <a:srgbClr val="FAF8FE"/>
          </a:solidFill>
          <a:ln w="25432">
            <a:solidFill>
              <a:srgbClr val="2B2B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58197" y="3280077"/>
            <a:ext cx="2760120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1" b="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progression</a:t>
            </a:r>
            <a:endParaRPr lang="en-US" sz="1101" dirty="0"/>
          </a:p>
        </p:txBody>
      </p:sp>
      <p:sp>
        <p:nvSpPr>
          <p:cNvPr id="27" name="Text 25"/>
          <p:cNvSpPr/>
          <p:nvPr/>
        </p:nvSpPr>
        <p:spPr>
          <a:xfrm>
            <a:off x="10958197" y="3470815"/>
            <a:ext cx="2760120" cy="457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3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58%</a:t>
            </a:r>
            <a:endParaRPr lang="en-US" sz="2403" dirty="0"/>
          </a:p>
        </p:txBody>
      </p:sp>
      <p:sp>
        <p:nvSpPr>
          <p:cNvPr id="28" name="Shape 26"/>
          <p:cNvSpPr/>
          <p:nvPr/>
        </p:nvSpPr>
        <p:spPr>
          <a:xfrm>
            <a:off x="4617148" y="4322778"/>
            <a:ext cx="6991546" cy="457771"/>
          </a:xfrm>
          <a:prstGeom prst="roundRect">
            <a:avLst>
              <a:gd name="adj" fmla="val 22222"/>
            </a:avLst>
          </a:prstGeom>
          <a:solidFill>
            <a:srgbClr val="FBFCFF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455" y="4437221"/>
            <a:ext cx="6870680" cy="266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Filter teachers…</a:t>
            </a:r>
            <a:endParaRPr lang="en-US" sz="1302" dirty="0"/>
          </a:p>
        </p:txBody>
      </p:sp>
      <p:sp>
        <p:nvSpPr>
          <p:cNvPr id="30" name="Shape 28"/>
          <p:cNvSpPr/>
          <p:nvPr/>
        </p:nvSpPr>
        <p:spPr>
          <a:xfrm>
            <a:off x="11735853" y="4322778"/>
            <a:ext cx="1934998" cy="457771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01160" y="4437221"/>
            <a:ext cx="1680585" cy="266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Sort: Most students ▾</a:t>
            </a:r>
            <a:endParaRPr lang="en-US" sz="1302" dirty="0"/>
          </a:p>
        </p:txBody>
      </p:sp>
      <p:sp>
        <p:nvSpPr>
          <p:cNvPr id="32" name="Text 30"/>
          <p:cNvSpPr/>
          <p:nvPr/>
        </p:nvSpPr>
        <p:spPr>
          <a:xfrm>
            <a:off x="4769739" y="4958572"/>
            <a:ext cx="3161166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1" b="1" spc="44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101" dirty="0"/>
          </a:p>
        </p:txBody>
      </p:sp>
      <p:sp>
        <p:nvSpPr>
          <p:cNvPr id="33" name="Text 31"/>
          <p:cNvSpPr/>
          <p:nvPr/>
        </p:nvSpPr>
        <p:spPr>
          <a:xfrm>
            <a:off x="7656243" y="4958572"/>
            <a:ext cx="1538621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01" b="1" spc="44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POSTED</a:t>
            </a:r>
            <a:endParaRPr lang="en-US" sz="1101" dirty="0"/>
          </a:p>
        </p:txBody>
      </p:sp>
      <p:sp>
        <p:nvSpPr>
          <p:cNvPr id="34" name="Text 32"/>
          <p:cNvSpPr/>
          <p:nvPr/>
        </p:nvSpPr>
        <p:spPr>
          <a:xfrm>
            <a:off x="9271254" y="4958572"/>
            <a:ext cx="1220629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01" b="1" spc="44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101" dirty="0"/>
          </a:p>
        </p:txBody>
      </p:sp>
      <p:sp>
        <p:nvSpPr>
          <p:cNvPr id="35" name="Text 33"/>
          <p:cNvSpPr/>
          <p:nvPr/>
        </p:nvSpPr>
        <p:spPr>
          <a:xfrm>
            <a:off x="10644474" y="4958572"/>
            <a:ext cx="3161166" cy="2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1" b="1" spc="44" kern="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PROGRESSION</a:t>
            </a:r>
            <a:endParaRPr lang="en-US" sz="1101" dirty="0"/>
          </a:p>
        </p:txBody>
      </p:sp>
      <p:sp>
        <p:nvSpPr>
          <p:cNvPr id="36" name="Shape 34"/>
          <p:cNvSpPr/>
          <p:nvPr/>
        </p:nvSpPr>
        <p:spPr>
          <a:xfrm>
            <a:off x="4617148" y="5251037"/>
            <a:ext cx="9053703" cy="686658"/>
          </a:xfrm>
          <a:prstGeom prst="roundRect">
            <a:avLst>
              <a:gd name="adj" fmla="val 18518"/>
            </a:avLst>
          </a:prstGeom>
          <a:ln w="25432">
            <a:solidFill>
              <a:srgbClr val="2B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5171" y="5390912"/>
            <a:ext cx="406908" cy="406908"/>
          </a:xfrm>
          <a:prstGeom prst="ellipse">
            <a:avLst/>
          </a:prstGeom>
          <a:solidFill>
            <a:srgbClr val="D6EFE0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9238" y="5473565"/>
            <a:ext cx="731862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M. Chen</a:t>
            </a:r>
            <a:endParaRPr lang="en-US" sz="1402" dirty="0"/>
          </a:p>
        </p:txBody>
      </p:sp>
      <p:sp>
        <p:nvSpPr>
          <p:cNvPr id="39" name="Text 37"/>
          <p:cNvSpPr/>
          <p:nvPr/>
        </p:nvSpPr>
        <p:spPr>
          <a:xfrm>
            <a:off x="7656243" y="5435417"/>
            <a:ext cx="153862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posted ▾</a:t>
            </a:r>
            <a:endParaRPr lang="en-US" sz="1202" dirty="0"/>
          </a:p>
        </p:txBody>
      </p:sp>
      <p:sp>
        <p:nvSpPr>
          <p:cNvPr id="40" name="Text 38"/>
          <p:cNvSpPr/>
          <p:nvPr/>
        </p:nvSpPr>
        <p:spPr>
          <a:xfrm>
            <a:off x="9271254" y="5486281"/>
            <a:ext cx="1220629" cy="25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1302" dirty="0"/>
          </a:p>
        </p:txBody>
      </p:sp>
      <p:sp>
        <p:nvSpPr>
          <p:cNvPr id="41" name="Shape 39"/>
          <p:cNvSpPr/>
          <p:nvPr/>
        </p:nvSpPr>
        <p:spPr>
          <a:xfrm>
            <a:off x="10644474" y="5530786"/>
            <a:ext cx="2314289" cy="127159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57189" y="5543502"/>
            <a:ext cx="1464711" cy="101727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43" name="Text 41"/>
          <p:cNvSpPr/>
          <p:nvPr/>
        </p:nvSpPr>
        <p:spPr>
          <a:xfrm>
            <a:off x="12984290" y="5492639"/>
            <a:ext cx="508540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202" dirty="0"/>
          </a:p>
        </p:txBody>
      </p:sp>
      <p:sp>
        <p:nvSpPr>
          <p:cNvPr id="44" name="Shape 42"/>
          <p:cNvSpPr/>
          <p:nvPr/>
        </p:nvSpPr>
        <p:spPr>
          <a:xfrm>
            <a:off x="5151215" y="6039421"/>
            <a:ext cx="8519636" cy="915542"/>
          </a:xfrm>
          <a:prstGeom prst="roundRect">
            <a:avLst>
              <a:gd name="adj" fmla="val 13889"/>
            </a:avLst>
          </a:prstGeom>
          <a:solidFill>
            <a:srgbClr val="F6F2FC"/>
          </a:solidFill>
          <a:ln w="12716">
            <a:solidFill>
              <a:srgbClr val="9A7FD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341953" y="6204728"/>
            <a:ext cx="8951976" cy="19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1" b="1" dirty="0">
                <a:solidFill>
                  <a:srgbClr val="5A4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EXPANDED · ALL COURSES POSTED</a:t>
            </a:r>
            <a:endParaRPr lang="en-US" sz="1001" dirty="0"/>
          </a:p>
        </p:txBody>
      </p:sp>
      <p:sp>
        <p:nvSpPr>
          <p:cNvPr id="46" name="Shape 44"/>
          <p:cNvSpPr/>
          <p:nvPr/>
        </p:nvSpPr>
        <p:spPr>
          <a:xfrm>
            <a:off x="5341953" y="6459045"/>
            <a:ext cx="3375072" cy="3306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4544" y="6522625"/>
            <a:ext cx="2149683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2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Foundations</a:t>
            </a:r>
            <a:endParaRPr lang="en-US" sz="1202" dirty="0"/>
          </a:p>
        </p:txBody>
      </p:sp>
      <p:sp>
        <p:nvSpPr>
          <p:cNvPr id="48" name="Text 46"/>
          <p:cNvSpPr/>
          <p:nvPr/>
        </p:nvSpPr>
        <p:spPr>
          <a:xfrm>
            <a:off x="7644322" y="6522625"/>
            <a:ext cx="996312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2" b="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students</a:t>
            </a:r>
            <a:endParaRPr lang="en-US" sz="1202" dirty="0"/>
          </a:p>
        </p:txBody>
      </p:sp>
      <p:sp>
        <p:nvSpPr>
          <p:cNvPr id="49" name="Shape 47"/>
          <p:cNvSpPr/>
          <p:nvPr/>
        </p:nvSpPr>
        <p:spPr>
          <a:xfrm>
            <a:off x="8818752" y="6459045"/>
            <a:ext cx="2059177" cy="3306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71343" y="6522625"/>
            <a:ext cx="921408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2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Viz 101</a:t>
            </a:r>
            <a:endParaRPr lang="en-US" sz="1202" dirty="0"/>
          </a:p>
        </p:txBody>
      </p:sp>
      <p:sp>
        <p:nvSpPr>
          <p:cNvPr id="51" name="Text 49"/>
          <p:cNvSpPr/>
          <p:nvPr/>
        </p:nvSpPr>
        <p:spPr>
          <a:xfrm>
            <a:off x="9892846" y="6522625"/>
            <a:ext cx="908692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2" b="1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students</a:t>
            </a:r>
            <a:endParaRPr lang="en-US" sz="1202" dirty="0"/>
          </a:p>
        </p:txBody>
      </p:sp>
      <p:sp>
        <p:nvSpPr>
          <p:cNvPr id="52" name="Shape 50"/>
          <p:cNvSpPr/>
          <p:nvPr/>
        </p:nvSpPr>
        <p:spPr>
          <a:xfrm>
            <a:off x="4617148" y="7056691"/>
            <a:ext cx="9053703" cy="686657"/>
          </a:xfrm>
          <a:prstGeom prst="roundRect">
            <a:avLst>
              <a:gd name="adj" fmla="val 18519"/>
            </a:avLst>
          </a:prstGeom>
          <a:ln w="25432">
            <a:solidFill>
              <a:srgbClr val="2B2B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5171" y="7196567"/>
            <a:ext cx="406908" cy="406908"/>
          </a:xfrm>
          <a:prstGeom prst="ellipse">
            <a:avLst/>
          </a:prstGeom>
          <a:solidFill>
            <a:srgbClr val="D6EFE0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9238" y="7279220"/>
            <a:ext cx="1023334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Dr. Alvarez</a:t>
            </a:r>
            <a:endParaRPr lang="en-US" sz="1402" dirty="0"/>
          </a:p>
        </p:txBody>
      </p:sp>
      <p:sp>
        <p:nvSpPr>
          <p:cNvPr id="55" name="Text 53"/>
          <p:cNvSpPr/>
          <p:nvPr/>
        </p:nvSpPr>
        <p:spPr>
          <a:xfrm>
            <a:off x="7656243" y="7241072"/>
            <a:ext cx="153862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posted ▸</a:t>
            </a:r>
            <a:endParaRPr lang="en-US" sz="1202" dirty="0"/>
          </a:p>
        </p:txBody>
      </p:sp>
      <p:sp>
        <p:nvSpPr>
          <p:cNvPr id="56" name="Text 54"/>
          <p:cNvSpPr/>
          <p:nvPr/>
        </p:nvSpPr>
        <p:spPr>
          <a:xfrm>
            <a:off x="9271254" y="7291935"/>
            <a:ext cx="1220629" cy="25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302" dirty="0"/>
          </a:p>
        </p:txBody>
      </p:sp>
      <p:sp>
        <p:nvSpPr>
          <p:cNvPr id="57" name="Shape 55"/>
          <p:cNvSpPr/>
          <p:nvPr/>
        </p:nvSpPr>
        <p:spPr>
          <a:xfrm>
            <a:off x="10644474" y="7336441"/>
            <a:ext cx="2314289" cy="127159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57189" y="7349156"/>
            <a:ext cx="1625050" cy="101728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59" name="Text 57"/>
          <p:cNvSpPr/>
          <p:nvPr/>
        </p:nvSpPr>
        <p:spPr>
          <a:xfrm>
            <a:off x="12984290" y="7298293"/>
            <a:ext cx="508540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202" dirty="0"/>
          </a:p>
        </p:txBody>
      </p:sp>
      <p:sp>
        <p:nvSpPr>
          <p:cNvPr id="60" name="Shape 58"/>
          <p:cNvSpPr/>
          <p:nvPr/>
        </p:nvSpPr>
        <p:spPr>
          <a:xfrm>
            <a:off x="4617148" y="7845076"/>
            <a:ext cx="9053703" cy="686657"/>
          </a:xfrm>
          <a:prstGeom prst="roundRect">
            <a:avLst>
              <a:gd name="adj" fmla="val 18519"/>
            </a:avLst>
          </a:prstGeom>
          <a:ln w="25432">
            <a:solidFill>
              <a:srgbClr val="2B2B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95171" y="7984950"/>
            <a:ext cx="406908" cy="406909"/>
          </a:xfrm>
          <a:prstGeom prst="ellipse">
            <a:avLst/>
          </a:prstGeom>
          <a:solidFill>
            <a:srgbClr val="D6EFE0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9238" y="8067604"/>
            <a:ext cx="729081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L. Ortiz</a:t>
            </a:r>
            <a:endParaRPr lang="en-US" sz="1402" dirty="0"/>
          </a:p>
        </p:txBody>
      </p:sp>
      <p:sp>
        <p:nvSpPr>
          <p:cNvPr id="63" name="Text 61"/>
          <p:cNvSpPr/>
          <p:nvPr/>
        </p:nvSpPr>
        <p:spPr>
          <a:xfrm>
            <a:off x="7656243" y="8029456"/>
            <a:ext cx="153862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posted ▸</a:t>
            </a:r>
            <a:endParaRPr lang="en-US" sz="1202" dirty="0"/>
          </a:p>
        </p:txBody>
      </p:sp>
      <p:sp>
        <p:nvSpPr>
          <p:cNvPr id="64" name="Text 62"/>
          <p:cNvSpPr/>
          <p:nvPr/>
        </p:nvSpPr>
        <p:spPr>
          <a:xfrm>
            <a:off x="9271254" y="8080320"/>
            <a:ext cx="1220629" cy="25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302" dirty="0"/>
          </a:p>
        </p:txBody>
      </p:sp>
      <p:sp>
        <p:nvSpPr>
          <p:cNvPr id="65" name="Shape 63"/>
          <p:cNvSpPr/>
          <p:nvPr/>
        </p:nvSpPr>
        <p:spPr>
          <a:xfrm>
            <a:off x="10644474" y="8124825"/>
            <a:ext cx="2314289" cy="127159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57189" y="8137541"/>
            <a:ext cx="1098533" cy="101728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67" name="Text 65"/>
          <p:cNvSpPr/>
          <p:nvPr/>
        </p:nvSpPr>
        <p:spPr>
          <a:xfrm>
            <a:off x="12984290" y="8086677"/>
            <a:ext cx="508540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202" dirty="0"/>
          </a:p>
        </p:txBody>
      </p:sp>
      <p:sp>
        <p:nvSpPr>
          <p:cNvPr id="68" name="Shape 66"/>
          <p:cNvSpPr/>
          <p:nvPr/>
        </p:nvSpPr>
        <p:spPr>
          <a:xfrm>
            <a:off x="4617148" y="8633460"/>
            <a:ext cx="9053703" cy="686657"/>
          </a:xfrm>
          <a:prstGeom prst="roundRect">
            <a:avLst>
              <a:gd name="adj" fmla="val 18519"/>
            </a:avLst>
          </a:prstGeom>
          <a:ln w="25432">
            <a:solidFill>
              <a:srgbClr val="2B2B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95171" y="8773334"/>
            <a:ext cx="406908" cy="406909"/>
          </a:xfrm>
          <a:prstGeom prst="ellipse">
            <a:avLst/>
          </a:prstGeom>
          <a:solidFill>
            <a:srgbClr val="D6EFE0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29238" y="8855987"/>
            <a:ext cx="699675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2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R. Patel</a:t>
            </a:r>
            <a:endParaRPr lang="en-US" sz="1402" dirty="0"/>
          </a:p>
        </p:txBody>
      </p:sp>
      <p:sp>
        <p:nvSpPr>
          <p:cNvPr id="71" name="Text 69"/>
          <p:cNvSpPr/>
          <p:nvPr/>
        </p:nvSpPr>
        <p:spPr>
          <a:xfrm>
            <a:off x="7656243" y="8817840"/>
            <a:ext cx="1538621" cy="355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u="sng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posted ▸</a:t>
            </a:r>
            <a:endParaRPr lang="en-US" sz="1202" dirty="0"/>
          </a:p>
        </p:txBody>
      </p:sp>
      <p:sp>
        <p:nvSpPr>
          <p:cNvPr id="72" name="Text 70"/>
          <p:cNvSpPr/>
          <p:nvPr/>
        </p:nvSpPr>
        <p:spPr>
          <a:xfrm>
            <a:off x="9271254" y="8868704"/>
            <a:ext cx="1220629" cy="25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1302" dirty="0"/>
          </a:p>
        </p:txBody>
      </p:sp>
      <p:sp>
        <p:nvSpPr>
          <p:cNvPr id="73" name="Shape 71"/>
          <p:cNvSpPr/>
          <p:nvPr/>
        </p:nvSpPr>
        <p:spPr>
          <a:xfrm>
            <a:off x="10644474" y="8913209"/>
            <a:ext cx="2314289" cy="127159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 w="12716">
            <a:solidFill>
              <a:srgbClr val="2B2B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57189" y="8925925"/>
            <a:ext cx="1258872" cy="101728"/>
          </a:xfrm>
          <a:prstGeom prst="rect">
            <a:avLst/>
          </a:prstGeom>
          <a:solidFill>
            <a:srgbClr val="DCD2F2"/>
          </a:solidFill>
          <a:ln/>
        </p:spPr>
      </p:sp>
      <p:sp>
        <p:nvSpPr>
          <p:cNvPr id="75" name="Text 73"/>
          <p:cNvSpPr/>
          <p:nvPr/>
        </p:nvSpPr>
        <p:spPr>
          <a:xfrm>
            <a:off x="12984290" y="8875062"/>
            <a:ext cx="508540" cy="241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2" b="1" dirty="0">
                <a:solidFill>
                  <a:srgbClr val="2B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20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991868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7A7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333500" y="4601468"/>
            <a:ext cx="171831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224"/>
              </a:lnSpc>
              <a:buNone/>
            </a:pPr>
            <a:r>
              <a:rPr lang="en-US" sz="720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Barebones set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5790158"/>
            <a:ext cx="171831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4A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 only — labels and actions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DCD2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113273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Login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4636770" y="1792605"/>
            <a:ext cx="9014459" cy="757809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49530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57775" y="2585085"/>
            <a:ext cx="81724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51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510" dirty="0"/>
          </a:p>
        </p:txBody>
      </p:sp>
      <p:sp>
        <p:nvSpPr>
          <p:cNvPr id="7" name="Shape 5"/>
          <p:cNvSpPr/>
          <p:nvPr/>
        </p:nvSpPr>
        <p:spPr>
          <a:xfrm>
            <a:off x="5429250" y="3749040"/>
            <a:ext cx="7429500" cy="1015365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4765">
            <a:solidFill>
              <a:srgbClr val="2B2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51195" y="4046220"/>
            <a:ext cx="7008495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5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2535" dirty="0"/>
          </a:p>
        </p:txBody>
      </p:sp>
      <p:sp>
        <p:nvSpPr>
          <p:cNvPr id="9" name="Shape 7"/>
          <p:cNvSpPr/>
          <p:nvPr/>
        </p:nvSpPr>
        <p:spPr>
          <a:xfrm>
            <a:off x="5429250" y="5061585"/>
            <a:ext cx="7429500" cy="1015365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4765">
            <a:solidFill>
              <a:srgbClr val="2B2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1195" y="5358765"/>
            <a:ext cx="7008495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35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2535" dirty="0"/>
          </a:p>
        </p:txBody>
      </p:sp>
      <p:sp>
        <p:nvSpPr>
          <p:cNvPr id="11" name="Shape 9"/>
          <p:cNvSpPr/>
          <p:nvPr/>
        </p:nvSpPr>
        <p:spPr>
          <a:xfrm>
            <a:off x="5429250" y="6572250"/>
            <a:ext cx="7429500" cy="1163955"/>
          </a:xfrm>
          <a:prstGeom prst="roundRect">
            <a:avLst>
              <a:gd name="adj" fmla="val 19149"/>
            </a:avLst>
          </a:prstGeom>
          <a:solidFill>
            <a:srgbClr val="BCD6F2"/>
          </a:solidFill>
          <a:ln w="49530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9753" y="6894195"/>
            <a:ext cx="7008495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92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Sign in</a:t>
            </a:r>
            <a:endParaRPr lang="en-US" sz="2925" dirty="0"/>
          </a:p>
        </p:txBody>
      </p:sp>
      <p:sp>
        <p:nvSpPr>
          <p:cNvPr id="13" name="Text 11"/>
          <p:cNvSpPr/>
          <p:nvPr/>
        </p:nvSpPr>
        <p:spPr>
          <a:xfrm>
            <a:off x="5057775" y="8132445"/>
            <a:ext cx="81724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40" dirty="0">
                <a:solidFill>
                  <a:srgbClr val="7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here? </a:t>
            </a:r>
            <a:pPr algn="ctr" indent="0" marL="0">
              <a:buNone/>
            </a:pPr>
            <a:r>
              <a:rPr lang="en-US" sz="2340" b="1" dirty="0">
                <a:solidFill>
                  <a:srgbClr val="3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23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DCD2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191525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Register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5260848" y="1485138"/>
            <a:ext cx="7766303" cy="8193024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42672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2167890"/>
            <a:ext cx="70408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Create account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5943600" y="3170682"/>
            <a:ext cx="6400800" cy="874776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1336">
            <a:solidFill>
              <a:srgbClr val="2B2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0968" y="3426714"/>
            <a:ext cx="6038088" cy="400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84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2184" dirty="0"/>
          </a:p>
        </p:txBody>
      </p:sp>
      <p:sp>
        <p:nvSpPr>
          <p:cNvPr id="9" name="Shape 7"/>
          <p:cNvSpPr/>
          <p:nvPr/>
        </p:nvSpPr>
        <p:spPr>
          <a:xfrm>
            <a:off x="5943600" y="4301490"/>
            <a:ext cx="6400800" cy="874776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1336">
            <a:solidFill>
              <a:srgbClr val="2B2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0968" y="4557522"/>
            <a:ext cx="6038088" cy="400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84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2184" dirty="0"/>
          </a:p>
        </p:txBody>
      </p:sp>
      <p:sp>
        <p:nvSpPr>
          <p:cNvPr id="11" name="Shape 9"/>
          <p:cNvSpPr/>
          <p:nvPr/>
        </p:nvSpPr>
        <p:spPr>
          <a:xfrm>
            <a:off x="5943600" y="5432297"/>
            <a:ext cx="6400800" cy="874776"/>
          </a:xfrm>
          <a:prstGeom prst="roundRect">
            <a:avLst>
              <a:gd name="adj" fmla="val 19512"/>
            </a:avLst>
          </a:prstGeom>
          <a:solidFill>
            <a:srgbClr val="FBFCFF"/>
          </a:solidFill>
          <a:ln w="21336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0968" y="5688329"/>
            <a:ext cx="6038088" cy="400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84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2184" dirty="0"/>
          </a:p>
        </p:txBody>
      </p:sp>
      <p:sp>
        <p:nvSpPr>
          <p:cNvPr id="13" name="Shape 11"/>
          <p:cNvSpPr/>
          <p:nvPr/>
        </p:nvSpPr>
        <p:spPr>
          <a:xfrm>
            <a:off x="5943600" y="6648450"/>
            <a:ext cx="3115056" cy="874776"/>
          </a:xfrm>
          <a:prstGeom prst="roundRect">
            <a:avLst>
              <a:gd name="adj" fmla="val 19512"/>
            </a:avLst>
          </a:prstGeom>
          <a:solidFill>
            <a:srgbClr val="BCD6F2"/>
          </a:solidFill>
          <a:ln w="42672">
            <a:solidFill>
              <a:srgbClr val="2B2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1570" y="6883146"/>
            <a:ext cx="2739116" cy="443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</a:t>
            </a:r>
            <a:endParaRPr lang="en-US" sz="2184" dirty="0"/>
          </a:p>
        </p:txBody>
      </p:sp>
      <p:sp>
        <p:nvSpPr>
          <p:cNvPr id="15" name="Shape 13"/>
          <p:cNvSpPr/>
          <p:nvPr/>
        </p:nvSpPr>
        <p:spPr>
          <a:xfrm>
            <a:off x="9272016" y="6648450"/>
            <a:ext cx="3072384" cy="874776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21336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9290" y="6861810"/>
            <a:ext cx="2737835" cy="486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84" dirty="0">
                <a:solidFill>
                  <a:srgbClr val="5A5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</a:t>
            </a:r>
            <a:endParaRPr lang="en-US" sz="2184" dirty="0"/>
          </a:p>
        </p:txBody>
      </p:sp>
      <p:sp>
        <p:nvSpPr>
          <p:cNvPr id="17" name="Shape 15"/>
          <p:cNvSpPr/>
          <p:nvPr/>
        </p:nvSpPr>
        <p:spPr>
          <a:xfrm>
            <a:off x="5943600" y="7949946"/>
            <a:ext cx="6400800" cy="1002792"/>
          </a:xfrm>
          <a:prstGeom prst="roundRect">
            <a:avLst>
              <a:gd name="adj" fmla="val 19149"/>
            </a:avLst>
          </a:prstGeom>
          <a:solidFill>
            <a:srgbClr val="C7E8D6"/>
          </a:solidFill>
          <a:ln w="42672">
            <a:solidFill>
              <a:srgbClr val="2B2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4956" y="8227314"/>
            <a:ext cx="6038088" cy="486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Create account</a:t>
            </a:r>
            <a:endParaRPr lang="en-US" sz="25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DCD2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417708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 homepage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2160270" y="2894648"/>
            <a:ext cx="13967459" cy="5374005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49530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09800" y="4108133"/>
            <a:ext cx="13868400" cy="49530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7" name="Text 5"/>
          <p:cNvSpPr/>
          <p:nvPr/>
        </p:nvSpPr>
        <p:spPr>
          <a:xfrm>
            <a:off x="2655570" y="3241358"/>
            <a:ext cx="2992734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2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3120" dirty="0"/>
          </a:p>
        </p:txBody>
      </p:sp>
      <p:sp>
        <p:nvSpPr>
          <p:cNvPr id="8" name="Shape 6"/>
          <p:cNvSpPr/>
          <p:nvPr/>
        </p:nvSpPr>
        <p:spPr>
          <a:xfrm>
            <a:off x="14084617" y="3253740"/>
            <a:ext cx="1547813" cy="544830"/>
          </a:xfrm>
          <a:prstGeom prst="roundRect">
            <a:avLst>
              <a:gd name="adj" fmla="val 50000"/>
            </a:avLst>
          </a:prstGeom>
          <a:solidFill>
            <a:srgbClr val="BCD6F2"/>
          </a:solidFill>
          <a:ln w="49530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81797" y="3377565"/>
            <a:ext cx="102965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655570" y="4652963"/>
            <a:ext cx="1427454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1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3315" dirty="0"/>
          </a:p>
        </p:txBody>
      </p:sp>
      <p:sp>
        <p:nvSpPr>
          <p:cNvPr id="11" name="Shape 9"/>
          <p:cNvSpPr/>
          <p:nvPr/>
        </p:nvSpPr>
        <p:spPr>
          <a:xfrm>
            <a:off x="2655570" y="5594033"/>
            <a:ext cx="4127242" cy="2080260"/>
          </a:xfrm>
          <a:prstGeom prst="roundRect">
            <a:avLst>
              <a:gd name="adj" fmla="val 11905"/>
            </a:avLst>
          </a:prstGeom>
          <a:ln w="49530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2280" y="5990273"/>
            <a:ext cx="35576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3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2535" dirty="0"/>
          </a:p>
        </p:txBody>
      </p:sp>
      <p:sp>
        <p:nvSpPr>
          <p:cNvPr id="13" name="Shape 11"/>
          <p:cNvSpPr/>
          <p:nvPr/>
        </p:nvSpPr>
        <p:spPr>
          <a:xfrm>
            <a:off x="7079992" y="5594033"/>
            <a:ext cx="4127628" cy="2080260"/>
          </a:xfrm>
          <a:prstGeom prst="roundRect">
            <a:avLst>
              <a:gd name="adj" fmla="val 11905"/>
            </a:avLst>
          </a:prstGeom>
          <a:ln w="49530">
            <a:solidFill>
              <a:srgbClr val="2B2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6702" y="5990273"/>
            <a:ext cx="3558037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3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2535" dirty="0"/>
          </a:p>
        </p:txBody>
      </p:sp>
      <p:sp>
        <p:nvSpPr>
          <p:cNvPr id="15" name="Shape 13"/>
          <p:cNvSpPr/>
          <p:nvPr/>
        </p:nvSpPr>
        <p:spPr>
          <a:xfrm>
            <a:off x="11504801" y="5594033"/>
            <a:ext cx="4127628" cy="2080260"/>
          </a:xfrm>
          <a:prstGeom prst="roundRect">
            <a:avLst>
              <a:gd name="adj" fmla="val 11905"/>
            </a:avLst>
          </a:prstGeom>
          <a:ln w="49530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51511" y="5990273"/>
            <a:ext cx="3558037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3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Spanish A1</a:t>
            </a:r>
            <a:endParaRPr lang="en-US" sz="253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DCD2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65852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Teacher homepage + proposal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4110343" y="1485110"/>
            <a:ext cx="10067316" cy="8193081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35700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46042" y="2359752"/>
            <a:ext cx="9995915" cy="35700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7" name="Text 5"/>
          <p:cNvSpPr/>
          <p:nvPr/>
        </p:nvSpPr>
        <p:spPr>
          <a:xfrm>
            <a:off x="4467340" y="1735007"/>
            <a:ext cx="2157070" cy="448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4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249" dirty="0"/>
          </a:p>
        </p:txBody>
      </p:sp>
      <p:sp>
        <p:nvSpPr>
          <p:cNvPr id="8" name="Shape 6"/>
          <p:cNvSpPr/>
          <p:nvPr/>
        </p:nvSpPr>
        <p:spPr>
          <a:xfrm>
            <a:off x="12705045" y="1743933"/>
            <a:ext cx="1115616" cy="392697"/>
          </a:xfrm>
          <a:prstGeom prst="roundRect">
            <a:avLst>
              <a:gd name="adj" fmla="val 50000"/>
            </a:avLst>
          </a:prstGeom>
          <a:solidFill>
            <a:srgbClr val="C7E8D6"/>
          </a:solidFill>
          <a:ln w="35700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19244" y="1833182"/>
            <a:ext cx="763419" cy="252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6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4467340" y="2859548"/>
            <a:ext cx="1786770" cy="46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89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Courses</a:t>
            </a:r>
            <a:endParaRPr lang="en-US" sz="2389" dirty="0"/>
          </a:p>
        </p:txBody>
      </p:sp>
      <p:sp>
        <p:nvSpPr>
          <p:cNvPr id="11" name="Shape 9"/>
          <p:cNvSpPr/>
          <p:nvPr/>
        </p:nvSpPr>
        <p:spPr>
          <a:xfrm>
            <a:off x="11396149" y="2752449"/>
            <a:ext cx="2424512" cy="642594"/>
          </a:xfrm>
          <a:prstGeom prst="roundRect">
            <a:avLst>
              <a:gd name="adj" fmla="val 22222"/>
            </a:avLst>
          </a:prstGeom>
          <a:solidFill>
            <a:srgbClr val="C7E8D6"/>
          </a:solidFill>
          <a:ln w="35700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46046" y="2913098"/>
            <a:ext cx="2000917" cy="359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＋ Propose course</a:t>
            </a:r>
            <a:endParaRPr lang="en-US" sz="1827" dirty="0"/>
          </a:p>
        </p:txBody>
      </p:sp>
      <p:sp>
        <p:nvSpPr>
          <p:cNvPr id="13" name="Shape 11"/>
          <p:cNvSpPr/>
          <p:nvPr/>
        </p:nvSpPr>
        <p:spPr>
          <a:xfrm>
            <a:off x="4467340" y="3609242"/>
            <a:ext cx="9353321" cy="785393"/>
          </a:xfrm>
          <a:prstGeom prst="roundRect">
            <a:avLst>
              <a:gd name="adj" fmla="val 22727"/>
            </a:avLst>
          </a:prstGeom>
          <a:ln w="35700">
            <a:solidFill>
              <a:srgbClr val="2B2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7238" y="3841290"/>
            <a:ext cx="9134125" cy="359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1827" dirty="0"/>
          </a:p>
        </p:txBody>
      </p:sp>
      <p:sp>
        <p:nvSpPr>
          <p:cNvPr id="15" name="Shape 13"/>
          <p:cNvSpPr/>
          <p:nvPr/>
        </p:nvSpPr>
        <p:spPr>
          <a:xfrm>
            <a:off x="4467340" y="4537434"/>
            <a:ext cx="9353321" cy="785394"/>
          </a:xfrm>
          <a:prstGeom prst="roundRect">
            <a:avLst>
              <a:gd name="adj" fmla="val 22727"/>
            </a:avLst>
          </a:prstGeom>
          <a:ln w="35700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7238" y="4769482"/>
            <a:ext cx="9134125" cy="359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7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Viz 101</a:t>
            </a:r>
            <a:endParaRPr lang="en-US" sz="1827" dirty="0"/>
          </a:p>
        </p:txBody>
      </p:sp>
      <p:sp>
        <p:nvSpPr>
          <p:cNvPr id="17" name="Shape 15"/>
          <p:cNvSpPr/>
          <p:nvPr/>
        </p:nvSpPr>
        <p:spPr>
          <a:xfrm>
            <a:off x="4467340" y="5679824"/>
            <a:ext cx="9353321" cy="356997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35700">
            <a:solidFill>
              <a:srgbClr val="2B8A5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88637" y="5965422"/>
            <a:ext cx="9581800" cy="377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New course proposal</a:t>
            </a:r>
            <a:endParaRPr lang="en-US" sz="1968" dirty="0"/>
          </a:p>
        </p:txBody>
      </p:sp>
      <p:sp>
        <p:nvSpPr>
          <p:cNvPr id="19" name="Shape 17"/>
          <p:cNvSpPr/>
          <p:nvPr/>
        </p:nvSpPr>
        <p:spPr>
          <a:xfrm>
            <a:off x="4788637" y="6483067"/>
            <a:ext cx="8710728" cy="660445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7850">
            <a:solidFill>
              <a:srgbClr val="2B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4985" y="6661566"/>
            <a:ext cx="8579353" cy="341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7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title</a:t>
            </a:r>
            <a:endParaRPr lang="en-US" sz="1827" dirty="0"/>
          </a:p>
        </p:txBody>
      </p:sp>
      <p:sp>
        <p:nvSpPr>
          <p:cNvPr id="21" name="Shape 19"/>
          <p:cNvSpPr/>
          <p:nvPr/>
        </p:nvSpPr>
        <p:spPr>
          <a:xfrm>
            <a:off x="4788637" y="7322010"/>
            <a:ext cx="8710728" cy="660445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7850">
            <a:solidFill>
              <a:srgbClr val="2B2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4985" y="7500509"/>
            <a:ext cx="8579353" cy="341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7" dirty="0">
                <a:solidFill>
                  <a:srgbClr val="9A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827" dirty="0"/>
          </a:p>
        </p:txBody>
      </p:sp>
      <p:sp>
        <p:nvSpPr>
          <p:cNvPr id="23" name="Shape 21"/>
          <p:cNvSpPr/>
          <p:nvPr/>
        </p:nvSpPr>
        <p:spPr>
          <a:xfrm>
            <a:off x="4788637" y="8196653"/>
            <a:ext cx="8710728" cy="767544"/>
          </a:xfrm>
          <a:prstGeom prst="roundRect">
            <a:avLst>
              <a:gd name="adj" fmla="val 20930"/>
            </a:avLst>
          </a:prstGeom>
          <a:solidFill>
            <a:srgbClr val="C7E8D6"/>
          </a:solidFill>
          <a:ln w="35700">
            <a:solidFill>
              <a:srgbClr val="2B2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2174" y="8410851"/>
            <a:ext cx="8543653" cy="377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68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Submit for approval</a:t>
            </a:r>
            <a:endParaRPr lang="en-US" sz="196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6263"/>
            <a:ext cx="735211" cy="523875"/>
          </a:xfrm>
          <a:prstGeom prst="roundRect">
            <a:avLst>
              <a:gd name="adj" fmla="val 21818"/>
            </a:avLst>
          </a:prstGeom>
          <a:solidFill>
            <a:srgbClr val="DCD2F2"/>
          </a:solidFill>
          <a:ln w="28575">
            <a:solidFill>
              <a:srgbClr val="2B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025" y="661988"/>
            <a:ext cx="4113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87711" y="533400"/>
            <a:ext cx="373604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Admin homepage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3785330" y="1486638"/>
            <a:ext cx="10717341" cy="8190023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38005">
            <a:solidFill>
              <a:srgbClr val="2B2B33"/>
            </a:solidFill>
            <a:prstDash val="solid"/>
          </a:ln>
          <a:effectLst>
            <a:outerShdw sx="100000" sy="100000" kx="0" ky="0" algn="bl" rotWithShape="0" blurRad="101600" dist="74393" dir="3000000">
              <a:srgbClr val="2B2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23335" y="2417754"/>
            <a:ext cx="10641332" cy="38005"/>
          </a:xfrm>
          <a:prstGeom prst="rect">
            <a:avLst/>
          </a:prstGeom>
          <a:solidFill>
            <a:srgbClr val="2B2B33"/>
          </a:solidFill>
          <a:ln/>
        </p:spPr>
      </p:sp>
      <p:sp>
        <p:nvSpPr>
          <p:cNvPr id="7" name="Text 5"/>
          <p:cNvSpPr/>
          <p:nvPr/>
        </p:nvSpPr>
        <p:spPr>
          <a:xfrm>
            <a:off x="4165377" y="1752671"/>
            <a:ext cx="2296348" cy="475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Learning Home</a:t>
            </a:r>
            <a:endParaRPr lang="en-US" sz="2394" dirty="0"/>
          </a:p>
        </p:txBody>
      </p:sp>
      <p:sp>
        <p:nvSpPr>
          <p:cNvPr id="8" name="Shape 6"/>
          <p:cNvSpPr/>
          <p:nvPr/>
        </p:nvSpPr>
        <p:spPr>
          <a:xfrm>
            <a:off x="13144000" y="1762173"/>
            <a:ext cx="978622" cy="418052"/>
          </a:xfrm>
          <a:prstGeom prst="roundRect">
            <a:avLst>
              <a:gd name="adj" fmla="val 50000"/>
            </a:avLst>
          </a:prstGeom>
          <a:solidFill>
            <a:srgbClr val="DCD2F2"/>
          </a:solidFill>
          <a:ln w="38005">
            <a:solidFill>
              <a:srgbClr val="2B2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72029" y="1857184"/>
            <a:ext cx="598765" cy="26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496" dirty="0"/>
          </a:p>
        </p:txBody>
      </p:sp>
      <p:sp>
        <p:nvSpPr>
          <p:cNvPr id="10" name="Text 8"/>
          <p:cNvSpPr/>
          <p:nvPr/>
        </p:nvSpPr>
        <p:spPr>
          <a:xfrm>
            <a:off x="4165377" y="2835807"/>
            <a:ext cx="10952969" cy="494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4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Waiting approvals</a:t>
            </a:r>
            <a:endParaRPr lang="en-US" sz="2544" dirty="0"/>
          </a:p>
        </p:txBody>
      </p:sp>
      <p:sp>
        <p:nvSpPr>
          <p:cNvPr id="11" name="Shape 9"/>
          <p:cNvSpPr/>
          <p:nvPr/>
        </p:nvSpPr>
        <p:spPr>
          <a:xfrm>
            <a:off x="4165377" y="3519892"/>
            <a:ext cx="9957245" cy="1064133"/>
          </a:xfrm>
          <a:prstGeom prst="roundRect">
            <a:avLst>
              <a:gd name="adj" fmla="val 17857"/>
            </a:avLst>
          </a:prstGeom>
          <a:ln w="38005">
            <a:solidFill>
              <a:srgbClr val="2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1411" y="3880937"/>
            <a:ext cx="7034383" cy="38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Machine Learning Foundations</a:t>
            </a:r>
            <a:endParaRPr lang="en-US" sz="1945" dirty="0"/>
          </a:p>
        </p:txBody>
      </p:sp>
      <p:sp>
        <p:nvSpPr>
          <p:cNvPr id="13" name="Shape 11"/>
          <p:cNvSpPr/>
          <p:nvPr/>
        </p:nvSpPr>
        <p:spPr>
          <a:xfrm>
            <a:off x="11016328" y="3747921"/>
            <a:ext cx="1408254" cy="608076"/>
          </a:xfrm>
          <a:prstGeom prst="roundRect">
            <a:avLst>
              <a:gd name="adj" fmla="val 21875"/>
            </a:avLst>
          </a:prstGeom>
          <a:solidFill>
            <a:srgbClr val="C7E8D6"/>
          </a:solidFill>
          <a:ln w="38005">
            <a:solidFill>
              <a:srgbClr val="2B2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82361" y="3899940"/>
            <a:ext cx="952387" cy="342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Approve</a:t>
            </a:r>
            <a:endParaRPr lang="en-US" sz="1796" dirty="0"/>
          </a:p>
        </p:txBody>
      </p:sp>
      <p:sp>
        <p:nvSpPr>
          <p:cNvPr id="15" name="Shape 13"/>
          <p:cNvSpPr/>
          <p:nvPr/>
        </p:nvSpPr>
        <p:spPr>
          <a:xfrm>
            <a:off x="12614606" y="3747921"/>
            <a:ext cx="1241983" cy="608076"/>
          </a:xfrm>
          <a:prstGeom prst="roundRect">
            <a:avLst>
              <a:gd name="adj" fmla="val 21875"/>
            </a:avLst>
          </a:prstGeom>
          <a:solidFill>
            <a:srgbClr val="F2C9C9"/>
          </a:solidFill>
          <a:ln w="38005">
            <a:solidFill>
              <a:srgbClr val="2B2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80639" y="3899940"/>
            <a:ext cx="786117" cy="342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Reject</a:t>
            </a:r>
            <a:endParaRPr lang="en-US" sz="1796" dirty="0"/>
          </a:p>
        </p:txBody>
      </p:sp>
      <p:sp>
        <p:nvSpPr>
          <p:cNvPr id="17" name="Shape 15"/>
          <p:cNvSpPr/>
          <p:nvPr/>
        </p:nvSpPr>
        <p:spPr>
          <a:xfrm>
            <a:off x="4165377" y="4736044"/>
            <a:ext cx="9957245" cy="1064133"/>
          </a:xfrm>
          <a:prstGeom prst="roundRect">
            <a:avLst>
              <a:gd name="adj" fmla="val 17857"/>
            </a:avLst>
          </a:prstGeom>
          <a:ln w="38005">
            <a:solidFill>
              <a:srgbClr val="2B2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1411" y="5097089"/>
            <a:ext cx="7034383" cy="38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Creative Writing Workshop</a:t>
            </a:r>
            <a:endParaRPr lang="en-US" sz="1945" dirty="0"/>
          </a:p>
        </p:txBody>
      </p:sp>
      <p:sp>
        <p:nvSpPr>
          <p:cNvPr id="19" name="Shape 17"/>
          <p:cNvSpPr/>
          <p:nvPr/>
        </p:nvSpPr>
        <p:spPr>
          <a:xfrm>
            <a:off x="11016328" y="4964073"/>
            <a:ext cx="1408254" cy="608076"/>
          </a:xfrm>
          <a:prstGeom prst="roundRect">
            <a:avLst>
              <a:gd name="adj" fmla="val 21875"/>
            </a:avLst>
          </a:prstGeom>
          <a:solidFill>
            <a:srgbClr val="C7E8D6"/>
          </a:solidFill>
          <a:ln w="38005">
            <a:solidFill>
              <a:srgbClr val="2B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82361" y="5116092"/>
            <a:ext cx="952387" cy="342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Approve</a:t>
            </a:r>
            <a:endParaRPr lang="en-US" sz="1796" dirty="0"/>
          </a:p>
        </p:txBody>
      </p:sp>
      <p:sp>
        <p:nvSpPr>
          <p:cNvPr id="21" name="Shape 19"/>
          <p:cNvSpPr/>
          <p:nvPr/>
        </p:nvSpPr>
        <p:spPr>
          <a:xfrm>
            <a:off x="12614606" y="4964073"/>
            <a:ext cx="1241983" cy="608076"/>
          </a:xfrm>
          <a:prstGeom prst="roundRect">
            <a:avLst>
              <a:gd name="adj" fmla="val 21875"/>
            </a:avLst>
          </a:prstGeom>
          <a:solidFill>
            <a:srgbClr val="F2C9C9"/>
          </a:solidFill>
          <a:ln w="38005">
            <a:solidFill>
              <a:srgbClr val="2B2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80639" y="5116092"/>
            <a:ext cx="786117" cy="342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Reject</a:t>
            </a:r>
            <a:endParaRPr lang="en-US" sz="1796" dirty="0"/>
          </a:p>
        </p:txBody>
      </p:sp>
      <p:sp>
        <p:nvSpPr>
          <p:cNvPr id="23" name="Text 21"/>
          <p:cNvSpPr/>
          <p:nvPr/>
        </p:nvSpPr>
        <p:spPr>
          <a:xfrm>
            <a:off x="4165377" y="6218230"/>
            <a:ext cx="10952969" cy="494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44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 courses</a:t>
            </a:r>
            <a:endParaRPr lang="en-US" sz="2544" dirty="0"/>
          </a:p>
        </p:txBody>
      </p:sp>
      <p:sp>
        <p:nvSpPr>
          <p:cNvPr id="24" name="Shape 22"/>
          <p:cNvSpPr/>
          <p:nvPr/>
        </p:nvSpPr>
        <p:spPr>
          <a:xfrm>
            <a:off x="4165377" y="6902315"/>
            <a:ext cx="9957245" cy="1083135"/>
          </a:xfrm>
          <a:prstGeom prst="roundRect">
            <a:avLst>
              <a:gd name="adj" fmla="val 17544"/>
            </a:avLst>
          </a:prstGeom>
          <a:ln w="38005">
            <a:solidFill>
              <a:srgbClr val="2B2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1411" y="7272861"/>
            <a:ext cx="7774791" cy="38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Intro to Statistics</a:t>
            </a:r>
            <a:endParaRPr lang="en-US" sz="1945" dirty="0"/>
          </a:p>
        </p:txBody>
      </p:sp>
      <p:sp>
        <p:nvSpPr>
          <p:cNvPr id="26" name="Shape 24"/>
          <p:cNvSpPr/>
          <p:nvPr/>
        </p:nvSpPr>
        <p:spPr>
          <a:xfrm>
            <a:off x="11689427" y="7130344"/>
            <a:ext cx="883908" cy="627078"/>
          </a:xfrm>
          <a:prstGeom prst="roundRect">
            <a:avLst>
              <a:gd name="adj" fmla="val 21212"/>
            </a:avLst>
          </a:prstGeom>
          <a:solidFill>
            <a:srgbClr val="DCD2F2"/>
          </a:solidFill>
          <a:ln w="19002">
            <a:solidFill>
              <a:srgbClr val="2B2B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36458" y="7263360"/>
            <a:ext cx="466046" cy="399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Edit</a:t>
            </a:r>
            <a:endParaRPr lang="en-US" sz="1796" dirty="0"/>
          </a:p>
        </p:txBody>
      </p:sp>
      <p:sp>
        <p:nvSpPr>
          <p:cNvPr id="28" name="Shape 26"/>
          <p:cNvSpPr/>
          <p:nvPr/>
        </p:nvSpPr>
        <p:spPr>
          <a:xfrm>
            <a:off x="12763358" y="7130344"/>
            <a:ext cx="1093231" cy="627078"/>
          </a:xfrm>
          <a:prstGeom prst="roundRect">
            <a:avLst>
              <a:gd name="adj" fmla="val 21212"/>
            </a:avLst>
          </a:prstGeom>
          <a:solidFill>
            <a:srgbClr val="F2C9C9"/>
          </a:solidFill>
          <a:ln w="19002">
            <a:solidFill>
              <a:srgbClr val="2B2B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10389" y="7263360"/>
            <a:ext cx="675369" cy="399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Delete</a:t>
            </a:r>
            <a:endParaRPr lang="en-US" sz="1796" dirty="0"/>
          </a:p>
        </p:txBody>
      </p:sp>
      <p:sp>
        <p:nvSpPr>
          <p:cNvPr id="30" name="Shape 28"/>
          <p:cNvSpPr/>
          <p:nvPr/>
        </p:nvSpPr>
        <p:spPr>
          <a:xfrm>
            <a:off x="4165377" y="8137470"/>
            <a:ext cx="9957245" cy="1083135"/>
          </a:xfrm>
          <a:prstGeom prst="roundRect">
            <a:avLst>
              <a:gd name="adj" fmla="val 17544"/>
            </a:avLst>
          </a:prstGeom>
          <a:ln w="38005">
            <a:solidFill>
              <a:srgbClr val="2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1411" y="8508016"/>
            <a:ext cx="7774791" cy="38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5" b="1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 Design Basics</a:t>
            </a:r>
            <a:endParaRPr lang="en-US" sz="1945" dirty="0"/>
          </a:p>
        </p:txBody>
      </p:sp>
      <p:sp>
        <p:nvSpPr>
          <p:cNvPr id="32" name="Shape 30"/>
          <p:cNvSpPr/>
          <p:nvPr/>
        </p:nvSpPr>
        <p:spPr>
          <a:xfrm>
            <a:off x="11689427" y="8365498"/>
            <a:ext cx="883908" cy="627079"/>
          </a:xfrm>
          <a:prstGeom prst="roundRect">
            <a:avLst>
              <a:gd name="adj" fmla="val 21212"/>
            </a:avLst>
          </a:prstGeom>
          <a:solidFill>
            <a:srgbClr val="DCD2F2"/>
          </a:solidFill>
          <a:ln w="19002">
            <a:solidFill>
              <a:srgbClr val="2B2B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936458" y="8498514"/>
            <a:ext cx="466046" cy="399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Edit</a:t>
            </a:r>
            <a:endParaRPr lang="en-US" sz="1796" dirty="0"/>
          </a:p>
        </p:txBody>
      </p:sp>
      <p:sp>
        <p:nvSpPr>
          <p:cNvPr id="34" name="Shape 32"/>
          <p:cNvSpPr/>
          <p:nvPr/>
        </p:nvSpPr>
        <p:spPr>
          <a:xfrm>
            <a:off x="12763358" y="8365498"/>
            <a:ext cx="1093231" cy="627079"/>
          </a:xfrm>
          <a:prstGeom prst="roundRect">
            <a:avLst>
              <a:gd name="adj" fmla="val 21212"/>
            </a:avLst>
          </a:prstGeom>
          <a:solidFill>
            <a:srgbClr val="F2C9C9"/>
          </a:solidFill>
          <a:ln w="19002">
            <a:solidFill>
              <a:srgbClr val="2B2B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10389" y="8498514"/>
            <a:ext cx="675369" cy="399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6" dirty="0">
                <a:solidFill>
                  <a:srgbClr val="2B2B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Delete</a:t>
            </a:r>
            <a:endParaRPr lang="en-US" sz="17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2026-08-27T09:07:45Z</dcterms:created>
  <dcterms:modified xsi:type="dcterms:W3CDTF">2026-08-27T09:07:45Z</dcterms:modified>
</cp:coreProperties>
</file>